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C212E-664C-118D-C4AD-34653A3AB1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008DA-EA61-0EFE-90E5-3DDEFE5CA2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C5CFF-5226-3B3E-AD81-B1CE4436E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4FAE-4FEB-4A85-9677-97C84EB7CF43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17E87-6196-540A-F9A9-064E88099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3A651-84DC-D783-9F40-BCAA1DDEE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E1A5D-924A-49A7-BF0C-0F8DB1A74F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49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94FA3-4C9A-3840-122E-939DA7ED1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0827C-4770-C307-35FE-16EB8A1D9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6507E-B1A6-9AE0-3A94-110A6597C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4FAE-4FEB-4A85-9677-97C84EB7CF43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2CDE7-BFA2-C40F-A767-A40A5A538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AA915-DD21-60EE-85DE-850C8032C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E1A5D-924A-49A7-BF0C-0F8DB1A74F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496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98BE4-23F8-9FF8-08B0-EEB308373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821C8-52BF-A048-D393-F2C0B162B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6E68C-AAF4-91FD-6778-1F9ADE5F5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4FAE-4FEB-4A85-9677-97C84EB7CF43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62515-1777-B2B1-023D-19ED84F5D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5E2F0-7AEF-8049-EF4C-89E64B09E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E1A5D-924A-49A7-BF0C-0F8DB1A74F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65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34B0A-D3E8-86E1-3A5F-E8B83557F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E824D-DF48-8278-EC6B-D06E991011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35CE61-C24D-2906-4CB2-054467717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891AD9-873A-C979-0A89-14BC439CF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4FAE-4FEB-4A85-9677-97C84EB7CF43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7F96A3-EC11-CDE4-7D45-3BD8E7F85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1FD8F3-3D5C-3936-2C9F-0B8007D72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E1A5D-924A-49A7-BF0C-0F8DB1A74F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073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C59CA-0C51-440E-7FB1-F5D08552D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6F4FE-FE3A-6956-9784-B67D42332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41A8AE-88BF-BA2F-3258-287448CC22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A083C6-0731-ED9F-56A7-02924B4F0F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B5B6B1-048C-7FEE-5540-255651F3EC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9FF8A4-D4C6-A22D-E8BB-E9377E18F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4FAE-4FEB-4A85-9677-97C84EB7CF43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EC76C3-A4A1-004C-445B-8B0CF5D71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B39266-B472-769D-C085-78B237BE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E1A5D-924A-49A7-BF0C-0F8DB1A74F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607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68478-606D-38B7-A7FA-760A23741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35D233-329D-163A-F194-9CC7828ED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4FAE-4FEB-4A85-9677-97C84EB7CF43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B0F692-0B98-3FAF-F611-B24DC625D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B3537F-20E8-9FB8-2299-C6E18F22D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E1A5D-924A-49A7-BF0C-0F8DB1A74F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378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0E002B-AED2-AB1F-8627-3C9594771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4FAE-4FEB-4A85-9677-97C84EB7CF43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62A742-1897-E0F5-407C-88AC540FE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20759-B685-6A8B-01DD-5BE619DAC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E1A5D-924A-49A7-BF0C-0F8DB1A74F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12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5C12E-F7C9-F1B7-4B20-C3541A91D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00400-C00A-6F90-F3B0-A8202ADA5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98EDB2-DF7A-625B-C30C-316362E04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43564-B96D-2E96-9E71-FAA7631B5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4FAE-4FEB-4A85-9677-97C84EB7CF43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F0331F-25F9-53ED-C1AF-7043E58FF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90944F-4A51-ABF1-873D-43EAB1E57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E1A5D-924A-49A7-BF0C-0F8DB1A74F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395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F07EF-ED54-E320-5DDB-A39D9A78B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17E46D-512F-8B66-818A-BE8E3CC56A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812E3E-57F6-B246-0729-88C6A8D0A5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F6371E-D0BE-C172-4DA3-190413CA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4FAE-4FEB-4A85-9677-97C84EB7CF43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D751ED-119C-BD2A-1D77-98B8BA2F0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3541F-8EF2-FF59-34AE-01106C992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E1A5D-924A-49A7-BF0C-0F8DB1A74F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935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A021E-8A13-86A4-539C-BF8306029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FEB6A8-2B80-93A3-8CD8-CA7D330ECF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0906E-D2D4-B2D6-ABF1-A6F3D60FF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4FAE-4FEB-4A85-9677-97C84EB7CF43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B8371-76A2-E668-2BC7-64408B7BB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8D291-D0B7-2FAD-4EA8-16365E7FF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E1A5D-924A-49A7-BF0C-0F8DB1A74F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693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150B98-5B85-B7B3-EA4F-096473962B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B689F0-D6A9-648F-ECAC-257F34A365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70506-73ED-66FC-0C27-E1E8A2FF4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4FAE-4FEB-4A85-9677-97C84EB7CF43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E7518-D0C5-2985-432C-DAF011322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581A3-EB4B-829C-6836-097F08FB1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E1A5D-924A-49A7-BF0C-0F8DB1A74F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1435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FD4FD0-321D-80AE-9E12-6C78ABE42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7F62D5-6206-0B09-A72F-679FAAA60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B826B-6275-813D-4526-6408E89B75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04FAE-4FEB-4A85-9677-97C84EB7CF43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56F97-CF3F-294E-4332-8DF67B40A4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07BCF-BFE7-165D-42A4-9C11AEDDD0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8E1A5D-924A-49A7-BF0C-0F8DB1A74F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784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geeksforgeeks.org/c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Common_Language_Runtime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D3EAC-24D1-44C0-2B5F-95DBBB91C7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813621"/>
          </a:xfrm>
        </p:spPr>
        <p:txBody>
          <a:bodyPr>
            <a:normAutofit/>
          </a:bodyPr>
          <a:lstStyle/>
          <a:p>
            <a:r>
              <a:rPr lang="en-US" dirty="0"/>
              <a:t>Python: Implementation, </a:t>
            </a:r>
            <a:r>
              <a:rPr lang="en-US" dirty="0" smtClean="0"/>
              <a:t>Architecture,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901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47FB4-BBF9-6344-C3A8-F9C004192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8818"/>
            <a:ext cx="10515600" cy="568940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Implementations of Python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85B76-1F16-2B16-4C28-702693163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057" y="1029213"/>
            <a:ext cx="5080823" cy="54305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i="0" dirty="0" err="1">
                <a:solidFill>
                  <a:srgbClr val="273239"/>
                </a:solidFill>
                <a:effectLst/>
                <a:latin typeface="Nunito" pitchFamily="2" charset="0"/>
              </a:rPr>
              <a:t>Cpython</a:t>
            </a:r>
            <a:r>
              <a:rPr lang="en-US" sz="2000" b="1" i="0" dirty="0">
                <a:solidFill>
                  <a:srgbClr val="273239"/>
                </a:solidFill>
                <a:effectLst/>
                <a:latin typeface="Nunito" pitchFamily="2" charset="0"/>
              </a:rPr>
              <a:t>:</a:t>
            </a:r>
          </a:p>
          <a:p>
            <a:r>
              <a:rPr lang="en-US" sz="2000" dirty="0">
                <a:solidFill>
                  <a:srgbClr val="273239"/>
                </a:solidFill>
                <a:latin typeface="Nunito" pitchFamily="2" charset="0"/>
              </a:rPr>
              <a:t>D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Nunito" pitchFamily="2" charset="0"/>
              </a:rPr>
              <a:t>efault implementation of the Python is </a:t>
            </a:r>
            <a:r>
              <a:rPr lang="en-US" sz="2000" b="0" i="0" dirty="0" err="1">
                <a:solidFill>
                  <a:srgbClr val="273239"/>
                </a:solidFill>
                <a:effectLst/>
                <a:latin typeface="Nunito" pitchFamily="2" charset="0"/>
              </a:rPr>
              <a:t>Cpython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Nunito" pitchFamily="2" charset="0"/>
              </a:rPr>
              <a:t>.</a:t>
            </a:r>
          </a:p>
          <a:p>
            <a:r>
              <a:rPr lang="en-US" sz="2000" b="0" i="0" dirty="0" err="1">
                <a:solidFill>
                  <a:srgbClr val="273239"/>
                </a:solidFill>
                <a:effectLst/>
                <a:latin typeface="Nunito" pitchFamily="2" charset="0"/>
              </a:rPr>
              <a:t>Cpython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Nunito" pitchFamily="2" charset="0"/>
              </a:rPr>
              <a:t> is written in </a:t>
            </a:r>
            <a:r>
              <a:rPr lang="en-US" sz="2000" b="0" i="0" u="sng" dirty="0">
                <a:effectLst/>
                <a:latin typeface="Nunito" pitchFamily="2" charset="0"/>
                <a:hlinkClick r:id="rId2"/>
              </a:rPr>
              <a:t>C language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Nunito" pitchFamily="2" charset="0"/>
              </a:rPr>
              <a:t>.</a:t>
            </a:r>
          </a:p>
          <a:p>
            <a:r>
              <a:rPr lang="en-US" sz="2000" b="0" i="0" dirty="0" err="1">
                <a:solidFill>
                  <a:srgbClr val="273239"/>
                </a:solidFill>
                <a:effectLst/>
                <a:latin typeface="Nunito" pitchFamily="2" charset="0"/>
              </a:rPr>
              <a:t>Cpython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Nunito" pitchFamily="2" charset="0"/>
              </a:rPr>
              <a:t> compiles the python source code into intermediate bytecode, which is executed by the </a:t>
            </a:r>
            <a:r>
              <a:rPr lang="en-US" sz="2000" b="0" i="0" dirty="0" err="1">
                <a:solidFill>
                  <a:srgbClr val="273239"/>
                </a:solidFill>
                <a:effectLst/>
                <a:latin typeface="Nunito" pitchFamily="2" charset="0"/>
              </a:rPr>
              <a:t>Cpython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Nunito" pitchFamily="2" charset="0"/>
              </a:rPr>
              <a:t> virtual machine. </a:t>
            </a:r>
            <a:r>
              <a:rPr lang="en-US" sz="2000" b="0" i="0" dirty="0" err="1">
                <a:solidFill>
                  <a:srgbClr val="273239"/>
                </a:solidFill>
                <a:effectLst/>
                <a:latin typeface="Nunito" pitchFamily="2" charset="0"/>
              </a:rPr>
              <a:t>CPython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Nunito" pitchFamily="2" charset="0"/>
              </a:rPr>
              <a:t> is distributed with a large standard library written in a mixture of C and Python. </a:t>
            </a:r>
          </a:p>
          <a:p>
            <a:r>
              <a:rPr lang="en-US" sz="2000" b="0" i="0" dirty="0">
                <a:solidFill>
                  <a:srgbClr val="273239"/>
                </a:solidFill>
                <a:effectLst/>
                <a:latin typeface="Nunito" pitchFamily="2" charset="0"/>
              </a:rPr>
              <a:t>All versions of the Python language are implemented in C because </a:t>
            </a:r>
            <a:r>
              <a:rPr lang="en-US" sz="2000" b="0" i="0" dirty="0" err="1">
                <a:solidFill>
                  <a:srgbClr val="273239"/>
                </a:solidFill>
                <a:effectLst/>
                <a:latin typeface="Nunito" pitchFamily="2" charset="0"/>
              </a:rPr>
              <a:t>CPython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Nunito" pitchFamily="2" charset="0"/>
              </a:rPr>
              <a:t> is the reference implementation.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AB5084-6934-7541-5133-39614FBBC5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630" y="1916355"/>
            <a:ext cx="5227588" cy="2742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68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52657-6436-D9EC-FE24-A02019E07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5251"/>
            <a:ext cx="4343400" cy="569605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i="0" dirty="0" err="1">
                <a:solidFill>
                  <a:srgbClr val="273239"/>
                </a:solidFill>
                <a:effectLst/>
                <a:latin typeface="Nunito" pitchFamily="2" charset="0"/>
              </a:rPr>
              <a:t>Jython</a:t>
            </a:r>
            <a:endParaRPr lang="en-US" b="1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r>
              <a:rPr lang="en-US" b="0" i="0" dirty="0" err="1">
                <a:solidFill>
                  <a:srgbClr val="273239"/>
                </a:solidFill>
                <a:effectLst/>
                <a:latin typeface="Nunito" pitchFamily="2" charset="0"/>
              </a:rPr>
              <a:t>Jython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 is an implementation of the Python programming language that can run on the Java platform.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 </a:t>
            </a:r>
            <a:r>
              <a:rPr lang="en-US" b="0" i="0" dirty="0" err="1">
                <a:solidFill>
                  <a:srgbClr val="273239"/>
                </a:solidFill>
                <a:effectLst/>
                <a:latin typeface="Nunito" pitchFamily="2" charset="0"/>
              </a:rPr>
              <a:t>Jython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 programs use Java classes instead of Python modules</a:t>
            </a:r>
          </a:p>
          <a:p>
            <a:r>
              <a:rPr lang="en-US" b="0" i="0" dirty="0" err="1">
                <a:solidFill>
                  <a:srgbClr val="273239"/>
                </a:solidFill>
                <a:effectLst/>
                <a:latin typeface="Nunito" pitchFamily="2" charset="0"/>
              </a:rPr>
              <a:t>Jython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 compiles into Java byte code, which can then be run by Java virtual machine. </a:t>
            </a:r>
          </a:p>
          <a:p>
            <a:r>
              <a:rPr lang="en-US" b="0" i="0" dirty="0" err="1">
                <a:solidFill>
                  <a:srgbClr val="273239"/>
                </a:solidFill>
                <a:effectLst/>
                <a:latin typeface="Nunito" pitchFamily="2" charset="0"/>
              </a:rPr>
              <a:t>Jython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 is slow as compared to </a:t>
            </a:r>
            <a:r>
              <a:rPr lang="en-US" b="0" i="0" dirty="0" err="1">
                <a:solidFill>
                  <a:srgbClr val="273239"/>
                </a:solidFill>
                <a:effectLst/>
                <a:latin typeface="Nunito" pitchFamily="2" charset="0"/>
              </a:rPr>
              <a:t>Cpython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 and lacks compatibility with </a:t>
            </a:r>
            <a:r>
              <a:rPr lang="en-US" b="0" i="0" dirty="0" err="1">
                <a:solidFill>
                  <a:srgbClr val="273239"/>
                </a:solidFill>
                <a:effectLst/>
                <a:latin typeface="Nunito" pitchFamily="2" charset="0"/>
              </a:rPr>
              <a:t>CPython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 libraries.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72FD79-BEB9-0F06-ECF2-707791450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850" y="1397532"/>
            <a:ext cx="5564736" cy="3518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160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2C3C3-B2B1-B2F3-6866-CC89F2AC2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692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i="0" dirty="0" err="1">
                <a:solidFill>
                  <a:srgbClr val="273239"/>
                </a:solidFill>
                <a:effectLst/>
                <a:latin typeface="Nunito" pitchFamily="2" charset="0"/>
              </a:rPr>
              <a:t>IronPython</a:t>
            </a:r>
            <a:endParaRPr lang="en-US" b="1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Python implementation written in C# targeting Microsoft’s .NET framework. 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Similar to </a:t>
            </a:r>
            <a:r>
              <a:rPr lang="en-US" b="0" i="0" dirty="0" err="1">
                <a:solidFill>
                  <a:srgbClr val="273239"/>
                </a:solidFill>
                <a:effectLst/>
                <a:latin typeface="Nunito" pitchFamily="2" charset="0"/>
              </a:rPr>
              <a:t>Jython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, it uses </a:t>
            </a:r>
            <a:r>
              <a:rPr lang="en-US" b="0" i="0" dirty="0" err="1">
                <a:solidFill>
                  <a:srgbClr val="273239"/>
                </a:solidFill>
                <a:effectLst/>
                <a:latin typeface="Nunito" pitchFamily="2" charset="0"/>
              </a:rPr>
              <a:t>.Net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 Virtual Machine </a:t>
            </a:r>
            <a:r>
              <a:rPr lang="en-US" b="0" i="0" dirty="0" err="1">
                <a:solidFill>
                  <a:srgbClr val="273239"/>
                </a:solidFill>
                <a:effectLst/>
                <a:latin typeface="Nunito" pitchFamily="2" charset="0"/>
              </a:rPr>
              <a:t>i.e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</a:t>
            </a:r>
            <a:r>
              <a:rPr lang="en-US" b="0" i="0" u="sng" dirty="0">
                <a:effectLst/>
                <a:latin typeface="Nunito" pitchFamily="2" charset="0"/>
                <a:hlinkClick r:id="rId2"/>
              </a:rPr>
              <a:t>Common Language Runtime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. </a:t>
            </a:r>
          </a:p>
          <a:p>
            <a:r>
              <a:rPr lang="en-US" b="0" i="0" dirty="0" err="1">
                <a:solidFill>
                  <a:srgbClr val="273239"/>
                </a:solidFill>
                <a:effectLst/>
                <a:latin typeface="Nunito" pitchFamily="2" charset="0"/>
              </a:rPr>
              <a:t>IronPython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 performs better in Python programs that use threads or multiple cores, as it has a JIT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9168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9D23B-1E35-417C-FB62-DFB7F67BF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54910" cy="4801317"/>
          </a:xfrm>
        </p:spPr>
        <p:txBody>
          <a:bodyPr/>
          <a:lstStyle/>
          <a:p>
            <a:pPr marL="0" indent="0">
              <a:buNone/>
            </a:pPr>
            <a:r>
              <a:rPr lang="en-US" b="1" i="0" dirty="0" err="1">
                <a:solidFill>
                  <a:srgbClr val="273239"/>
                </a:solidFill>
                <a:effectLst/>
                <a:latin typeface="Nunito" pitchFamily="2" charset="0"/>
              </a:rPr>
              <a:t>PyPy</a:t>
            </a:r>
            <a:endParaRPr lang="en-US" b="1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r>
              <a:rPr lang="en-US" b="0" i="0" dirty="0" err="1">
                <a:solidFill>
                  <a:srgbClr val="273239"/>
                </a:solidFill>
                <a:effectLst/>
                <a:latin typeface="Nunito" pitchFamily="2" charset="0"/>
              </a:rPr>
              <a:t>PyPy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 is an implementation of the Python programming language written in Python. The Interpreter is written in </a:t>
            </a:r>
            <a:r>
              <a:rPr lang="en-US" b="0" i="0" dirty="0" err="1">
                <a:solidFill>
                  <a:srgbClr val="273239"/>
                </a:solidFill>
                <a:effectLst/>
                <a:latin typeface="Nunito" pitchFamily="2" charset="0"/>
              </a:rPr>
              <a:t>RPython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 (a subset of Python).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4C8FBC-19E1-C229-8D9F-B4BB9C311D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0663" y="1509501"/>
            <a:ext cx="5010294" cy="422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093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6316F-A15D-B483-5504-7E5FC6959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032" y="207808"/>
            <a:ext cx="10515600" cy="480449"/>
          </a:xfrm>
        </p:spPr>
        <p:txBody>
          <a:bodyPr>
            <a:normAutofit fontScale="90000"/>
          </a:bodyPr>
          <a:lstStyle/>
          <a:p>
            <a:r>
              <a:rPr lang="en-US" dirty="0"/>
              <a:t>Architecture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6C14E8-F01E-7880-8687-C4962E8DF4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369" y="1825625"/>
            <a:ext cx="5765090" cy="300201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BDECEF-DAF2-6DF9-1641-DE89F108622D}"/>
              </a:ext>
            </a:extLst>
          </p:cNvPr>
          <p:cNvSpPr txBox="1"/>
          <p:nvPr/>
        </p:nvSpPr>
        <p:spPr>
          <a:xfrm>
            <a:off x="363794" y="924232"/>
            <a:ext cx="586002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0" i="0" dirty="0">
              <a:solidFill>
                <a:srgbClr val="4B4F58"/>
              </a:solidFill>
              <a:effectLst/>
            </a:endParaRPr>
          </a:p>
          <a:p>
            <a:r>
              <a:rPr lang="en-US" sz="1400" dirty="0">
                <a:solidFill>
                  <a:srgbClr val="4B4F58"/>
                </a:solidFill>
              </a:rPr>
              <a:t>Say we write a simple python program, hello.py.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b="0" i="0" dirty="0">
                <a:solidFill>
                  <a:srgbClr val="4B4F58"/>
                </a:solidFill>
                <a:effectLst/>
              </a:rPr>
              <a:t>It consists of human-readable instructions written using Python syntax.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b="0" i="0" dirty="0">
                <a:solidFill>
                  <a:srgbClr val="4B4F58"/>
                </a:solidFill>
                <a:effectLst/>
              </a:rPr>
              <a:t>For example:</a:t>
            </a:r>
          </a:p>
          <a:p>
            <a:r>
              <a:rPr lang="en-IN" sz="1400" b="0" i="0" dirty="0">
                <a:solidFill>
                  <a:srgbClr val="4B4F58"/>
                </a:solidFill>
                <a:effectLst/>
              </a:rPr>
              <a:t>print(“Hello World!”)</a:t>
            </a:r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FE1A76-EE22-3E96-0946-3F9E235D2054}"/>
              </a:ext>
            </a:extLst>
          </p:cNvPr>
          <p:cNvSpPr txBox="1"/>
          <p:nvPr/>
        </p:nvSpPr>
        <p:spPr>
          <a:xfrm>
            <a:off x="316374" y="2231925"/>
            <a:ext cx="5514156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1400" b="1" i="0" dirty="0">
                <a:solidFill>
                  <a:srgbClr val="4B4F58"/>
                </a:solidFill>
                <a:effectLst/>
              </a:rPr>
              <a:t>Interpreter:</a:t>
            </a:r>
          </a:p>
          <a:p>
            <a:pPr fontAlgn="base">
              <a:lnSpc>
                <a:spcPts val="1950"/>
              </a:lnSpc>
            </a:pPr>
            <a:r>
              <a:rPr lang="en-US" sz="1400" b="0" i="0" dirty="0">
                <a:solidFill>
                  <a:srgbClr val="4B4F58"/>
                </a:solidFill>
                <a:effectLst/>
              </a:rPr>
              <a:t>The Interpreter is the core engine that reads the source code and converts it into a format the machine can understand (bytecode). The interpreter performs following tasks:</a:t>
            </a:r>
            <a:br>
              <a:rPr lang="en-US" sz="1400" b="0" i="0" dirty="0">
                <a:solidFill>
                  <a:srgbClr val="4B4F58"/>
                </a:solidFill>
                <a:effectLst/>
              </a:rPr>
            </a:br>
            <a:r>
              <a:rPr lang="en-US" sz="1400" b="0" i="0" dirty="0">
                <a:solidFill>
                  <a:srgbClr val="4B4F58"/>
                </a:solidFill>
                <a:effectLst/>
              </a:rPr>
              <a:t>● </a:t>
            </a:r>
            <a:r>
              <a:rPr lang="en-US" sz="1400" b="1" i="0" dirty="0">
                <a:solidFill>
                  <a:srgbClr val="4B4F58"/>
                </a:solidFill>
                <a:effectLst/>
              </a:rPr>
              <a:t>Compiler:</a:t>
            </a:r>
            <a:r>
              <a:rPr lang="en-US" sz="1400" b="0" i="0" dirty="0">
                <a:solidFill>
                  <a:srgbClr val="4B4F58"/>
                </a:solidFill>
                <a:effectLst/>
              </a:rPr>
              <a:t> It first parses and compiles the source code into bytecode. Bytecode is an intermediate, platform-independent representation that Python’s virtual machine can execute.</a:t>
            </a:r>
            <a:br>
              <a:rPr lang="en-US" sz="1400" b="0" i="0" dirty="0">
                <a:solidFill>
                  <a:srgbClr val="4B4F58"/>
                </a:solidFill>
                <a:effectLst/>
              </a:rPr>
            </a:br>
            <a:r>
              <a:rPr lang="en-US" sz="1400" b="0" i="0" dirty="0">
                <a:solidFill>
                  <a:srgbClr val="4B4F58"/>
                </a:solidFill>
                <a:effectLst/>
              </a:rPr>
              <a:t>● </a:t>
            </a:r>
            <a:r>
              <a:rPr lang="en-US" sz="1400" b="1" i="0" dirty="0">
                <a:solidFill>
                  <a:srgbClr val="4B4F58"/>
                </a:solidFill>
                <a:effectLst/>
              </a:rPr>
              <a:t>Bytecode:</a:t>
            </a:r>
            <a:r>
              <a:rPr lang="en-US" sz="1400" b="0" i="0" dirty="0">
                <a:solidFill>
                  <a:srgbClr val="4B4F58"/>
                </a:solidFill>
                <a:effectLst/>
              </a:rPr>
              <a:t> This is a lower-level code, which the interpreter generates to optimize execution. Python does not directly execute source code but executes this bytecode.</a:t>
            </a:r>
            <a:br>
              <a:rPr lang="en-US" sz="1400" b="0" i="0" dirty="0">
                <a:solidFill>
                  <a:srgbClr val="4B4F58"/>
                </a:solidFill>
                <a:effectLst/>
              </a:rPr>
            </a:br>
            <a:r>
              <a:rPr lang="en-US" sz="1400" b="0" i="0" dirty="0">
                <a:solidFill>
                  <a:srgbClr val="4B4F58"/>
                </a:solidFill>
                <a:effectLst/>
              </a:rPr>
              <a:t>● </a:t>
            </a:r>
            <a:r>
              <a:rPr lang="en-US" sz="1400" b="1" i="0" dirty="0">
                <a:solidFill>
                  <a:srgbClr val="4B4F58"/>
                </a:solidFill>
                <a:effectLst/>
              </a:rPr>
              <a:t>Python Virtual Machine (PVM):</a:t>
            </a:r>
            <a:r>
              <a:rPr lang="en-US" sz="1400" b="0" i="0" dirty="0">
                <a:solidFill>
                  <a:srgbClr val="4B4F58"/>
                </a:solidFill>
                <a:effectLst/>
              </a:rPr>
              <a:t> The PVM reads the bytecode and executes it. This is the part of the interpreter that translates bytecode into machine-level instructions that the CPU can execute.</a:t>
            </a:r>
          </a:p>
          <a:p>
            <a:pPr fontAlgn="base">
              <a:lnSpc>
                <a:spcPts val="1950"/>
              </a:lnSpc>
            </a:pPr>
            <a:endParaRPr lang="en-US" sz="1400" dirty="0">
              <a:solidFill>
                <a:srgbClr val="4B4F58"/>
              </a:solidFill>
            </a:endParaRPr>
          </a:p>
          <a:p>
            <a:pPr fontAlgn="base">
              <a:lnSpc>
                <a:spcPts val="1950"/>
              </a:lnSpc>
            </a:pPr>
            <a:r>
              <a:rPr lang="en-US" sz="1400" b="0" i="0" dirty="0">
                <a:solidFill>
                  <a:srgbClr val="4B4F58"/>
                </a:solidFill>
                <a:effectLst/>
              </a:rPr>
              <a:t>The </a:t>
            </a:r>
            <a:r>
              <a:rPr lang="en-US" sz="1400" b="0" i="0" dirty="0" err="1">
                <a:solidFill>
                  <a:srgbClr val="4B4F58"/>
                </a:solidFill>
                <a:effectLst/>
              </a:rPr>
              <a:t>interpretor</a:t>
            </a:r>
            <a:r>
              <a:rPr lang="en-US" sz="1400" b="0" i="0" dirty="0">
                <a:solidFill>
                  <a:srgbClr val="4B4F58"/>
                </a:solidFill>
                <a:effectLst/>
              </a:rPr>
              <a:t> is also responsible for throwing error if python code contains error.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772018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846</TotalTime>
  <Words>175</Words>
  <Application>Microsoft Office PowerPoint</Application>
  <PresentationFormat>Widescreen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Nunito</vt:lpstr>
      <vt:lpstr>Office Theme</vt:lpstr>
      <vt:lpstr>Python: Implementation, Architecture, </vt:lpstr>
      <vt:lpstr>Implementations of Python</vt:lpstr>
      <vt:lpstr>PowerPoint Presentation</vt:lpstr>
      <vt:lpstr>PowerPoint Presentation</vt:lpstr>
      <vt:lpstr>PowerPoint Presentation</vt:lpstr>
      <vt:lpstr>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Python: Implementation, Architecture and Installation</dc:title>
  <dc:creator>ash322.ash422@gmail.com</dc:creator>
  <cp:lastModifiedBy>hi</cp:lastModifiedBy>
  <cp:revision>109</cp:revision>
  <dcterms:created xsi:type="dcterms:W3CDTF">2025-02-12T06:37:55Z</dcterms:created>
  <dcterms:modified xsi:type="dcterms:W3CDTF">2025-05-03T11:09:07Z</dcterms:modified>
</cp:coreProperties>
</file>