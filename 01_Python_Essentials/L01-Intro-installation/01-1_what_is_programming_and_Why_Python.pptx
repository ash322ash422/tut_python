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68" r:id="rId2"/>
    <p:sldId id="273" r:id="rId3"/>
    <p:sldId id="275" r:id="rId4"/>
    <p:sldId id="277" r:id="rId5"/>
    <p:sldId id="287" r:id="rId6"/>
    <p:sldId id="286" r:id="rId7"/>
    <p:sldId id="283" r:id="rId8"/>
    <p:sldId id="278" r:id="rId9"/>
    <p:sldId id="279" r:id="rId10"/>
    <p:sldId id="280" r:id="rId11"/>
    <p:sldId id="281" r:id="rId12"/>
    <p:sldId id="282" r:id="rId13"/>
    <p:sldId id="270" r:id="rId14"/>
    <p:sldId id="276" r:id="rId15"/>
    <p:sldId id="267" r:id="rId16"/>
    <p:sldId id="269" r:id="rId17"/>
    <p:sldId id="260" r:id="rId18"/>
    <p:sldId id="263" r:id="rId19"/>
    <p:sldId id="266" r:id="rId20"/>
    <p:sldId id="264" r:id="rId21"/>
    <p:sldId id="26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22" autoAdjust="0"/>
    <p:restoredTop sz="90194" autoAdjust="0"/>
  </p:normalViewPr>
  <p:slideViewPr>
    <p:cSldViewPr snapToGrid="0">
      <p:cViewPr varScale="1">
        <p:scale>
          <a:sx n="100" d="100"/>
          <a:sy n="100" d="100"/>
        </p:scale>
        <p:origin x="12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F4871E-3672-42BE-BBA1-0BAFEE55553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EC57A-C70D-4C56-92FA-51F20B72E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093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Computers are powerful, but they are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 intelligent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  <a:b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 only do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exactly what we tell them to do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C57A-C70D-4C56-92FA-51F20B72EE3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9978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69D69-39B6-7D45-D4E1-F5F7C3F85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025BBB-8D3D-11D1-09D4-19F869BAE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9FFCDC-D65A-F0F2-B9FE-BA111A78E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Imagine teaching a </a:t>
            </a:r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very obedient robot</a:t>
            </a:r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🤖</a:t>
            </a: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must say:</a:t>
            </a: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1: Move forward</a:t>
            </a: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2: Turn left</a:t>
            </a: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3: Pick up the object</a:t>
            </a: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you miss a step, the robot fails.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Programming is writing these step-by-step instructions</a:t>
            </a:r>
            <a:r>
              <a:rPr lang="en-US" dirty="0"/>
              <a:t> in a language the computer understands.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7FE4B-348D-2103-5647-D01FA3BADF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C57A-C70D-4C56-92FA-51F20B72EE3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2419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F1978-F8A2-1723-AAFC-3C4393E39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F1071B-686C-9EF9-AF70-819D0AC4F3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E2E0AA-161D-A7CD-F9D7-AD64EBCA23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4B2D57-2A47-2AC5-2494-B0E20FDD46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C57A-C70D-4C56-92FA-51F20B72EE3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0752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C828A-A4F0-3B8C-28C8-EE1F1FF92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3DAF74-59BF-5790-D10A-69488BEF46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57CC59-0090-C10B-83F6-F0AAD9D82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2C1E90-769C-41E9-C0BD-F11B9F6322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C57A-C70D-4C56-92FA-51F20B72EE3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5775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A57EC-CE69-4E7C-CA2B-2FE584A0F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A5BC09-C45F-7975-6BF0-88E7079B63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7DDD90-4AAA-FB99-600B-76F25B78D2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DD2B8B-AF67-A5D9-2522-84C39E33E7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C57A-C70D-4C56-92FA-51F20B72EE3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208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2A46C-EE0A-92E6-5663-55A011E81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F94DFC-87AC-2E4D-99DB-D7A64EEC88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EBA560-285E-8AF0-CE2F-695FA3DC25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17BB66-8AFD-BEFD-4856-92DCECB9E8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C57A-C70D-4C56-92FA-51F20B72EE3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9226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C5174-4A58-1F47-E80D-21E322AB3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43C1D0-6D4D-D8D9-79CC-0759788BBA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A2E3C9-352F-88FC-3011-B2197F975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7C1091-613F-5B4D-7FF6-DB1FFD6585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C57A-C70D-4C56-92FA-51F20B72EE3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6589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C57A-C70D-4C56-92FA-51F20B72EE3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3530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F9E93-172A-4FE2-C684-0465A35DE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BC2335-3222-D2A3-D2E8-23EF23E3D2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17F2EE-A119-1CE1-CD1C-575337BCB0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It’s a </a:t>
            </a:r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tool to turn Ideas into reality</a:t>
            </a:r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B89401-AC10-1D5F-3E3A-8C15501865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C57A-C70D-4C56-92FA-51F20B72EE3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5348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32844-8E95-891E-3EF8-C0F1A34B5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71C2D2-C2D9-7D8D-1F88-438F1138FF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7E05EF-A6AD-FE87-7F70-E9959A1F99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It’s a </a:t>
            </a:r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tool to turn Ideas into reality</a:t>
            </a:r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283ED-DD64-C9FB-832A-942C4DC0BE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C57A-C70D-4C56-92FA-51F20B72EE3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8187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D6142-B5E5-C17E-5D11-01BFF7F06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05A765-9565-6BFE-51B5-DD5D48C9D9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BEB98A-B973-0838-58E0-6BF3213929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35812F-63B5-D702-7B65-162BA8894D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C57A-C70D-4C56-92FA-51F20B72EE3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883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4CB1B2D4-8C10-F549-FE7D-8E39E846FD3D}"/>
              </a:ext>
            </a:extLst>
          </p:cNvPr>
          <p:cNvSpPr txBox="1"/>
          <p:nvPr/>
        </p:nvSpPr>
        <p:spPr>
          <a:xfrm>
            <a:off x="342899" y="2245513"/>
            <a:ext cx="1143000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Programming is the process of giving instructions to a computer so it can perform tasks for us.</a:t>
            </a:r>
            <a:endParaRPr lang="en-US" sz="3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146D32-0754-1891-66E1-E15C36248991}"/>
              </a:ext>
            </a:extLst>
          </p:cNvPr>
          <p:cNvSpPr txBox="1"/>
          <p:nvPr/>
        </p:nvSpPr>
        <p:spPr>
          <a:xfrm>
            <a:off x="3009900" y="110609"/>
            <a:ext cx="61912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Programming?</a:t>
            </a:r>
          </a:p>
        </p:txBody>
      </p:sp>
    </p:spTree>
    <p:extLst>
      <p:ext uri="{BB962C8B-B14F-4D97-AF65-F5344CB8AC3E}">
        <p14:creationId xmlns:p14="http://schemas.microsoft.com/office/powerpoint/2010/main" val="3704648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70327-075E-12C9-98F7-16EFDAF20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rawing of a robot&#10;&#10;AI-generated content may be incorrect.">
            <a:extLst>
              <a:ext uri="{FF2B5EF4-FFF2-40B4-BE49-F238E27FC236}">
                <a16:creationId xmlns:a16="http://schemas.microsoft.com/office/drawing/2014/main" id="{F1CED368-0B96-911E-DE4B-998B47BDB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373" y="1304925"/>
            <a:ext cx="4730627" cy="44390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A4FA90B-51C0-E66B-29BA-06E3F03F533D}"/>
              </a:ext>
            </a:extLst>
          </p:cNvPr>
          <p:cNvSpPr txBox="1"/>
          <p:nvPr/>
        </p:nvSpPr>
        <p:spPr>
          <a:xfrm>
            <a:off x="3009900" y="110609"/>
            <a:ext cx="61912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Programming?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112C8B-A546-A3DE-4868-FC45C95CCD14}"/>
              </a:ext>
            </a:extLst>
          </p:cNvPr>
          <p:cNvSpPr txBox="1"/>
          <p:nvPr/>
        </p:nvSpPr>
        <p:spPr>
          <a:xfrm>
            <a:off x="6505575" y="2057400"/>
            <a:ext cx="54768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robot performs operations( go forward, backward, right, left) based on instructions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Similarly,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program can perform operation based on instructions </a:t>
            </a:r>
          </a:p>
        </p:txBody>
      </p:sp>
    </p:spTree>
    <p:extLst>
      <p:ext uri="{BB962C8B-B14F-4D97-AF65-F5344CB8AC3E}">
        <p14:creationId xmlns:p14="http://schemas.microsoft.com/office/powerpoint/2010/main" val="4170361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5CB05-596C-D433-8A2B-2D0C5C040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3FC97E0-638D-097E-16EA-E96614DED6D0}"/>
              </a:ext>
            </a:extLst>
          </p:cNvPr>
          <p:cNvSpPr txBox="1"/>
          <p:nvPr/>
        </p:nvSpPr>
        <p:spPr>
          <a:xfrm>
            <a:off x="142874" y="367010"/>
            <a:ext cx="1178242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a Program?</a:t>
            </a:r>
          </a:p>
          <a:p>
            <a:pPr>
              <a:buNone/>
            </a:pPr>
            <a:endParaRPr lang="en-US" sz="32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</a:t>
            </a:r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program</a:t>
            </a:r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set of instructions written in a programming language.</a:t>
            </a:r>
          </a:p>
        </p:txBody>
      </p:sp>
      <p:pic>
        <p:nvPicPr>
          <p:cNvPr id="6" name="Picture 5" descr="A black background with green text&#10;&#10;AI-generated content may be incorrect.">
            <a:extLst>
              <a:ext uri="{FF2B5EF4-FFF2-40B4-BE49-F238E27FC236}">
                <a16:creationId xmlns:a16="http://schemas.microsoft.com/office/drawing/2014/main" id="{2D663F41-D993-A827-5154-8B32A2919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2275017"/>
            <a:ext cx="10116316" cy="378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077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6E74D-A7A1-4AAB-F9BE-37D5F2C52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141AA4-424E-9163-B6FA-20CDF2C4FE77}"/>
              </a:ext>
            </a:extLst>
          </p:cNvPr>
          <p:cNvSpPr txBox="1"/>
          <p:nvPr/>
        </p:nvSpPr>
        <p:spPr>
          <a:xfrm>
            <a:off x="142874" y="367010"/>
            <a:ext cx="117824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are different programming languages 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CB2912-A33D-5DE5-7535-AF870B3100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521" y="1835731"/>
            <a:ext cx="2120694" cy="10036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82111BE-26BC-82B9-F0E3-DA4D2305C5D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4366" y="1999479"/>
            <a:ext cx="4747388" cy="15456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A2DB87-069B-27F8-B6B2-D8438D8E279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0652" y="5471936"/>
            <a:ext cx="4886174" cy="12225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6430BB-02F0-3BE0-7B19-FD08C738EF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629" y="4148892"/>
            <a:ext cx="1469552" cy="1038017"/>
          </a:xfrm>
          <a:prstGeom prst="rect">
            <a:avLst/>
          </a:prstGeom>
        </p:spPr>
      </p:pic>
      <p:pic>
        <p:nvPicPr>
          <p:cNvPr id="11" name="Picture 10" descr="A blue and grey logo&#10;&#10;AI-generated content may be incorrect.">
            <a:extLst>
              <a:ext uri="{FF2B5EF4-FFF2-40B4-BE49-F238E27FC236}">
                <a16:creationId xmlns:a16="http://schemas.microsoft.com/office/drawing/2014/main" id="{BFA0C3F4-839B-C0F9-CD45-5D7F030E57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835" y="1826525"/>
            <a:ext cx="2160174" cy="1222516"/>
          </a:xfrm>
          <a:prstGeom prst="rect">
            <a:avLst/>
          </a:prstGeom>
        </p:spPr>
      </p:pic>
      <p:pic>
        <p:nvPicPr>
          <p:cNvPr id="13" name="Picture 12" descr="A blackboard with green letters and a plus&#10;&#10;AI-generated content may be incorrect.">
            <a:extLst>
              <a:ext uri="{FF2B5EF4-FFF2-40B4-BE49-F238E27FC236}">
                <a16:creationId xmlns:a16="http://schemas.microsoft.com/office/drawing/2014/main" id="{A54F5594-735F-D223-8E47-ACD6675A62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13392" y="3311114"/>
            <a:ext cx="2120694" cy="1789335"/>
          </a:xfrm>
          <a:prstGeom prst="rect">
            <a:avLst/>
          </a:prstGeom>
        </p:spPr>
      </p:pic>
      <p:pic>
        <p:nvPicPr>
          <p:cNvPr id="15" name="Picture 14" descr="A blue and white logo&#10;&#10;AI-generated content may be incorrect.">
            <a:extLst>
              <a:ext uri="{FF2B5EF4-FFF2-40B4-BE49-F238E27FC236}">
                <a16:creationId xmlns:a16="http://schemas.microsoft.com/office/drawing/2014/main" id="{0C5E87B8-DE41-6014-02D0-97AF0110B59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8802" y="808788"/>
            <a:ext cx="2257740" cy="66684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44F7970-995A-C724-CFAF-E5771D8B00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3035" y="4404010"/>
            <a:ext cx="2093057" cy="782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435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44C00-16FE-09E4-2325-3BD0CB83E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2C04C30-DFF5-88B8-B592-FC95A6F8244B}"/>
              </a:ext>
            </a:extLst>
          </p:cNvPr>
          <p:cNvSpPr txBox="1"/>
          <p:nvPr/>
        </p:nvSpPr>
        <p:spPr>
          <a:xfrm>
            <a:off x="1619250" y="139184"/>
            <a:ext cx="57721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(EXTRA) Comparison: Adding 2 numbers</a:t>
            </a: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1DD1E6-4F7B-90A0-8486-FE336607B618}"/>
              </a:ext>
            </a:extLst>
          </p:cNvPr>
          <p:cNvSpPr txBox="1"/>
          <p:nvPr/>
        </p:nvSpPr>
        <p:spPr>
          <a:xfrm>
            <a:off x="133351" y="964764"/>
            <a:ext cx="268605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C:</a:t>
            </a:r>
          </a:p>
          <a:p>
            <a:pPr>
              <a:buNone/>
            </a:pPr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#include &lt;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stdio.h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&gt;</a:t>
            </a:r>
          </a:p>
          <a:p>
            <a:pPr>
              <a:buNone/>
            </a:pP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int main() {</a:t>
            </a:r>
          </a:p>
          <a:p>
            <a:pPr>
              <a:buNone/>
            </a:pP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    int a = 3;</a:t>
            </a:r>
          </a:p>
          <a:p>
            <a:pPr>
              <a:buNone/>
            </a:pP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    int b = 2;</a:t>
            </a:r>
          </a:p>
          <a:p>
            <a:pPr>
              <a:buNone/>
            </a:pP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    int result;</a:t>
            </a:r>
          </a:p>
          <a:p>
            <a:pPr>
              <a:buNone/>
            </a:pP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    result = a + b;</a:t>
            </a:r>
          </a:p>
          <a:p>
            <a:pPr>
              <a:buNone/>
            </a:pP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    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printf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("%d\n", result);</a:t>
            </a:r>
          </a:p>
          <a:p>
            <a:pPr>
              <a:buNone/>
            </a:pP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    return 0;</a:t>
            </a:r>
          </a:p>
          <a:p>
            <a:pPr>
              <a:buNone/>
            </a:pP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F4E038-5693-0BD8-D326-E66AEDEEE17A}"/>
              </a:ext>
            </a:extLst>
          </p:cNvPr>
          <p:cNvSpPr txBox="1"/>
          <p:nvPr/>
        </p:nvSpPr>
        <p:spPr>
          <a:xfrm>
            <a:off x="3371850" y="993339"/>
            <a:ext cx="3609976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C++:</a:t>
            </a:r>
          </a:p>
          <a:p>
            <a:pPr>
              <a:buNone/>
            </a:pPr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#include &lt;iostream&gt;</a:t>
            </a:r>
          </a:p>
          <a:p>
            <a:pPr>
              <a:buNone/>
            </a:pP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int main() {</a:t>
            </a:r>
          </a:p>
          <a:p>
            <a:pPr>
              <a:buNone/>
            </a:pP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    int a = 3;</a:t>
            </a:r>
          </a:p>
          <a:p>
            <a:pPr>
              <a:buNone/>
            </a:pP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    int b = 2;</a:t>
            </a:r>
          </a:p>
          <a:p>
            <a:pPr>
              <a:buNone/>
            </a:pP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    int result = a + b;</a:t>
            </a:r>
          </a:p>
          <a:p>
            <a:pPr>
              <a:buNone/>
            </a:pP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    std::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cout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 &lt;&lt; result &lt;&lt; std::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endl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;</a:t>
            </a:r>
          </a:p>
          <a:p>
            <a:pPr>
              <a:buNone/>
            </a:pP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    return 0;</a:t>
            </a:r>
          </a:p>
          <a:p>
            <a:pPr>
              <a:buNone/>
            </a:pP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B8FDE9-C61A-F1C0-0DD8-02A67BF58966}"/>
              </a:ext>
            </a:extLst>
          </p:cNvPr>
          <p:cNvSpPr txBox="1"/>
          <p:nvPr/>
        </p:nvSpPr>
        <p:spPr>
          <a:xfrm>
            <a:off x="7353299" y="1031439"/>
            <a:ext cx="604837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Java:</a:t>
            </a:r>
          </a:p>
          <a:p>
            <a:pPr>
              <a:buNone/>
            </a:pPr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public class Main {</a:t>
            </a:r>
          </a:p>
          <a:p>
            <a:pPr>
              <a:buNone/>
            </a:pP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    public static void main(String[] 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args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) {</a:t>
            </a:r>
          </a:p>
          <a:p>
            <a:pPr>
              <a:buNone/>
            </a:pP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        int a = 3;</a:t>
            </a:r>
          </a:p>
          <a:p>
            <a:pPr>
              <a:buNone/>
            </a:pP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        int b = 2;</a:t>
            </a:r>
          </a:p>
          <a:p>
            <a:pPr>
              <a:buNone/>
            </a:pP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        </a:t>
            </a:r>
          </a:p>
          <a:p>
            <a:pPr>
              <a:buNone/>
            </a:pP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        int result = a + b;</a:t>
            </a:r>
          </a:p>
          <a:p>
            <a:pPr>
              <a:buNone/>
            </a:pP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        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System.out.println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(result);</a:t>
            </a:r>
          </a:p>
          <a:p>
            <a:pPr>
              <a:buNone/>
            </a:pP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    }</a:t>
            </a:r>
          </a:p>
          <a:p>
            <a:pPr>
              <a:buNone/>
            </a:pP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0EDA3D-CA3B-9F37-8DDC-2349E94AA658}"/>
              </a:ext>
            </a:extLst>
          </p:cNvPr>
          <p:cNvSpPr txBox="1"/>
          <p:nvPr/>
        </p:nvSpPr>
        <p:spPr>
          <a:xfrm>
            <a:off x="3667125" y="6124575"/>
            <a:ext cx="3252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any online compiler</a:t>
            </a:r>
          </a:p>
        </p:txBody>
      </p:sp>
    </p:spTree>
    <p:extLst>
      <p:ext uri="{BB962C8B-B14F-4D97-AF65-F5344CB8AC3E}">
        <p14:creationId xmlns:p14="http://schemas.microsoft.com/office/powerpoint/2010/main" val="404612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12991-93E7-907A-C897-B218DB91B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6EA68B-C11F-621C-B93E-F3B47CC9D61D}"/>
              </a:ext>
            </a:extLst>
          </p:cNvPr>
          <p:cNvSpPr txBox="1"/>
          <p:nvPr/>
        </p:nvSpPr>
        <p:spPr>
          <a:xfrm>
            <a:off x="657225" y="802839"/>
            <a:ext cx="370522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Rust:</a:t>
            </a:r>
          </a:p>
          <a:p>
            <a:pPr>
              <a:buNone/>
            </a:pPr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fn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 main() {</a:t>
            </a:r>
          </a:p>
          <a:p>
            <a:pPr>
              <a:buNone/>
            </a:pP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    let a = 3;</a:t>
            </a:r>
          </a:p>
          <a:p>
            <a:pPr>
              <a:buNone/>
            </a:pP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    let b = 2;</a:t>
            </a:r>
          </a:p>
          <a:p>
            <a:pPr>
              <a:buNone/>
            </a:pP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    let result = a + b;</a:t>
            </a:r>
          </a:p>
          <a:p>
            <a:pPr>
              <a:buNone/>
            </a:pP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    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println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!("{}", result);</a:t>
            </a:r>
          </a:p>
          <a:p>
            <a:pPr>
              <a:buNone/>
            </a:pP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EDBF52-23D8-2ECB-601C-B3A94502F60A}"/>
              </a:ext>
            </a:extLst>
          </p:cNvPr>
          <p:cNvSpPr txBox="1"/>
          <p:nvPr/>
        </p:nvSpPr>
        <p:spPr>
          <a:xfrm>
            <a:off x="2714625" y="5972175"/>
            <a:ext cx="31852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any online compiler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6F647E-7328-23EC-7532-55F70C1DFA8D}"/>
              </a:ext>
            </a:extLst>
          </p:cNvPr>
          <p:cNvSpPr txBox="1"/>
          <p:nvPr/>
        </p:nvSpPr>
        <p:spPr>
          <a:xfrm>
            <a:off x="1619250" y="139184"/>
            <a:ext cx="57721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(EXTRA) Comparison: Adding 2 numbers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FBB24-FECA-96FF-0FED-8D83662A44A8}"/>
              </a:ext>
            </a:extLst>
          </p:cNvPr>
          <p:cNvSpPr txBox="1"/>
          <p:nvPr/>
        </p:nvSpPr>
        <p:spPr>
          <a:xfrm>
            <a:off x="6200775" y="736164"/>
            <a:ext cx="370522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Python:</a:t>
            </a:r>
          </a:p>
          <a:p>
            <a:pPr>
              <a:buNone/>
            </a:pPr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a = 3</a:t>
            </a:r>
          </a:p>
          <a:p>
            <a:pPr>
              <a:buNone/>
            </a:pP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b = 2</a:t>
            </a:r>
          </a:p>
          <a:p>
            <a:pPr>
              <a:buNone/>
            </a:pP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result = a + b</a:t>
            </a:r>
          </a:p>
          <a:p>
            <a:pPr>
              <a:buNone/>
            </a:pP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print(result)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2AA501-A2AF-2332-CCBF-6666B414C81F}"/>
              </a:ext>
            </a:extLst>
          </p:cNvPr>
          <p:cNvSpPr txBox="1"/>
          <p:nvPr/>
        </p:nvSpPr>
        <p:spPr>
          <a:xfrm>
            <a:off x="5876925" y="3971925"/>
            <a:ext cx="2958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 is more simple</a:t>
            </a:r>
          </a:p>
        </p:txBody>
      </p:sp>
    </p:spTree>
    <p:extLst>
      <p:ext uri="{BB962C8B-B14F-4D97-AF65-F5344CB8AC3E}">
        <p14:creationId xmlns:p14="http://schemas.microsoft.com/office/powerpoint/2010/main" val="968701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86A1E-3870-14C9-B4C1-53F9778B2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112A30-19AD-229F-5748-F1E39A2C8111}"/>
              </a:ext>
            </a:extLst>
          </p:cNvPr>
          <p:cNvSpPr txBox="1"/>
          <p:nvPr/>
        </p:nvSpPr>
        <p:spPr>
          <a:xfrm>
            <a:off x="742950" y="840939"/>
            <a:ext cx="91821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Can Programming Do?</a:t>
            </a:r>
          </a:p>
          <a:p>
            <a:pPr>
              <a:buNone/>
            </a:pPr>
            <a:endParaRPr lang="en-US" sz="28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 programming, we can:</a:t>
            </a:r>
          </a:p>
          <a:p>
            <a:pPr>
              <a:buNone/>
            </a:pP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Build mobile apps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websites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Analyze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Build AI &amp; Machine Learning models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games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Automate medical systems</a:t>
            </a:r>
          </a:p>
        </p:txBody>
      </p:sp>
    </p:spTree>
    <p:extLst>
      <p:ext uri="{BB962C8B-B14F-4D97-AF65-F5344CB8AC3E}">
        <p14:creationId xmlns:p14="http://schemas.microsoft.com/office/powerpoint/2010/main" val="3635416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E5500-28A4-EDFF-CB2B-0E963495F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7839B0E-3DB5-4A4A-BC83-B47D048322E8}"/>
              </a:ext>
            </a:extLst>
          </p:cNvPr>
          <p:cNvSpPr txBox="1"/>
          <p:nvPr/>
        </p:nvSpPr>
        <p:spPr>
          <a:xfrm>
            <a:off x="228600" y="1191310"/>
            <a:ext cx="847725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 Is Easy to Learn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Compare this to other languages: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Fewer symbols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Less confusing syntax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Easy to read and write</a:t>
            </a: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✔ Perfect for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beginners</a:t>
            </a:r>
            <a:b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✔ No programming background required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A29794-A470-EB2B-43D2-6865E4E49ACA}"/>
              </a:ext>
            </a:extLst>
          </p:cNvPr>
          <p:cNvSpPr txBox="1"/>
          <p:nvPr/>
        </p:nvSpPr>
        <p:spPr>
          <a:xfrm>
            <a:off x="1466851" y="148709"/>
            <a:ext cx="10734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should I learn Python instead of other languages?</a:t>
            </a:r>
          </a:p>
        </p:txBody>
      </p:sp>
    </p:spTree>
    <p:extLst>
      <p:ext uri="{BB962C8B-B14F-4D97-AF65-F5344CB8AC3E}">
        <p14:creationId xmlns:p14="http://schemas.microsoft.com/office/powerpoint/2010/main" val="3026803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74A87-C30F-FB93-7F32-3A6919E2F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4D942A7-B697-627E-742F-A800F95B05D8}"/>
              </a:ext>
            </a:extLst>
          </p:cNvPr>
          <p:cNvSpPr txBox="1"/>
          <p:nvPr/>
        </p:nvSpPr>
        <p:spPr>
          <a:xfrm>
            <a:off x="228600" y="1143685"/>
            <a:ext cx="847725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 Is Beginner-Friendly but Powerful</a:t>
            </a:r>
          </a:p>
          <a:p>
            <a:endParaRPr lang="en-US" sz="28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 is used by: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Beginners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Professionals, Scientists, AI Engineers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8A4E91-179E-8CF3-61B1-5297A024E349}"/>
              </a:ext>
            </a:extLst>
          </p:cNvPr>
          <p:cNvSpPr txBox="1"/>
          <p:nvPr/>
        </p:nvSpPr>
        <p:spPr>
          <a:xfrm>
            <a:off x="1466851" y="148709"/>
            <a:ext cx="10734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should I learn Python instead of other languages?</a:t>
            </a:r>
          </a:p>
        </p:txBody>
      </p:sp>
    </p:spTree>
    <p:extLst>
      <p:ext uri="{BB962C8B-B14F-4D97-AF65-F5344CB8AC3E}">
        <p14:creationId xmlns:p14="http://schemas.microsoft.com/office/powerpoint/2010/main" val="2694681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6F5DA-6498-4B35-9A91-9F9298524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93622CB-F83C-0410-8221-935BA5B974CF}"/>
              </a:ext>
            </a:extLst>
          </p:cNvPr>
          <p:cNvSpPr txBox="1"/>
          <p:nvPr/>
        </p:nvSpPr>
        <p:spPr>
          <a:xfrm>
            <a:off x="228600" y="800785"/>
            <a:ext cx="10115550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 Has Huge Community &amp; Libraries</a:t>
            </a:r>
          </a:p>
          <a:p>
            <a:endParaRPr lang="en-US" sz="28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 has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ready-made tools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(called libraries):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numpy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math &amp; arrays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pandas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data analysis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matplotlib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plotting graphs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scikit-learn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machine learning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tensorflow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pytorch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deep learning</a:t>
            </a: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write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less code and 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build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more powerful applications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D86175-E387-EAB6-C969-79A3C2004EC7}"/>
              </a:ext>
            </a:extLst>
          </p:cNvPr>
          <p:cNvSpPr txBox="1"/>
          <p:nvPr/>
        </p:nvSpPr>
        <p:spPr>
          <a:xfrm>
            <a:off x="1466851" y="148709"/>
            <a:ext cx="10734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should I learn Python instead of other languages?</a:t>
            </a:r>
          </a:p>
        </p:txBody>
      </p:sp>
      <p:pic>
        <p:nvPicPr>
          <p:cNvPr id="3" name="Picture 2" descr="A black letter with a white background&#10;&#10;AI-generated content may be incorrect.">
            <a:extLst>
              <a:ext uri="{FF2B5EF4-FFF2-40B4-BE49-F238E27FC236}">
                <a16:creationId xmlns:a16="http://schemas.microsoft.com/office/drawing/2014/main" id="{25EA1151-CCA6-42D7-F521-4CC5E8EC9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0537" y="1916823"/>
            <a:ext cx="2933897" cy="832311"/>
          </a:xfrm>
          <a:prstGeom prst="rect">
            <a:avLst/>
          </a:prstGeom>
        </p:spPr>
      </p:pic>
      <p:pic>
        <p:nvPicPr>
          <p:cNvPr id="5" name="Picture 4" descr="A blue and white sign with white letters&#10;&#10;AI-generated content may be incorrect.">
            <a:extLst>
              <a:ext uri="{FF2B5EF4-FFF2-40B4-BE49-F238E27FC236}">
                <a16:creationId xmlns:a16="http://schemas.microsoft.com/office/drawing/2014/main" id="{98BE1F94-0941-458F-7FE7-AB41D0EF47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9038" y="2749134"/>
            <a:ext cx="2399016" cy="832311"/>
          </a:xfrm>
          <a:prstGeom prst="rect">
            <a:avLst/>
          </a:prstGeom>
        </p:spPr>
      </p:pic>
      <p:pic>
        <p:nvPicPr>
          <p:cNvPr id="7" name="Picture 6" descr="A blue text with a white background&#10;&#10;AI-generated content may be incorrect.">
            <a:extLst>
              <a:ext uri="{FF2B5EF4-FFF2-40B4-BE49-F238E27FC236}">
                <a16:creationId xmlns:a16="http://schemas.microsoft.com/office/drawing/2014/main" id="{D2040B8D-EA15-4DF3-0B46-F816040B83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3855" y="3753521"/>
            <a:ext cx="2029108" cy="495369"/>
          </a:xfrm>
          <a:prstGeom prst="rect">
            <a:avLst/>
          </a:prstGeom>
        </p:spPr>
      </p:pic>
      <p:pic>
        <p:nvPicPr>
          <p:cNvPr id="11" name="Picture 10" descr="A logo of a group of people&#10;&#10;AI-generated content may be incorrect.">
            <a:extLst>
              <a:ext uri="{FF2B5EF4-FFF2-40B4-BE49-F238E27FC236}">
                <a16:creationId xmlns:a16="http://schemas.microsoft.com/office/drawing/2014/main" id="{C16EAD4B-E3FE-B7F4-1116-2EF89AADDD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7732" y="4248890"/>
            <a:ext cx="2038635" cy="11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045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AD46C-096F-4CA9-56A8-82618AB3D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7521E19-FD7C-F5B4-9FED-9B5B4A9663B9}"/>
              </a:ext>
            </a:extLst>
          </p:cNvPr>
          <p:cNvSpPr txBox="1"/>
          <p:nvPr/>
        </p:nvSpPr>
        <p:spPr>
          <a:xfrm>
            <a:off x="1495425" y="2734360"/>
            <a:ext cx="84772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Ideas into Reality</a:t>
            </a:r>
            <a:endParaRPr lang="en-US" sz="4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58B7F3-6C91-1242-DFDE-C2078D410523}"/>
              </a:ext>
            </a:extLst>
          </p:cNvPr>
          <p:cNvSpPr txBox="1"/>
          <p:nvPr/>
        </p:nvSpPr>
        <p:spPr>
          <a:xfrm>
            <a:off x="1466851" y="148709"/>
            <a:ext cx="10734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should I learn Python instead of other languages?</a:t>
            </a:r>
          </a:p>
        </p:txBody>
      </p:sp>
    </p:spTree>
    <p:extLst>
      <p:ext uri="{BB962C8B-B14F-4D97-AF65-F5344CB8AC3E}">
        <p14:creationId xmlns:p14="http://schemas.microsoft.com/office/powerpoint/2010/main" val="1772711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A79DE-DA01-F265-024D-CF8C524FC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57569DA-6474-83C3-923B-70FFBE4357C5}"/>
              </a:ext>
            </a:extLst>
          </p:cNvPr>
          <p:cNvSpPr txBox="1"/>
          <p:nvPr/>
        </p:nvSpPr>
        <p:spPr>
          <a:xfrm>
            <a:off x="1466851" y="148709"/>
            <a:ext cx="10734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EXTRA</a:t>
            </a:r>
          </a:p>
        </p:txBody>
      </p:sp>
    </p:spTree>
    <p:extLst>
      <p:ext uri="{BB962C8B-B14F-4D97-AF65-F5344CB8AC3E}">
        <p14:creationId xmlns:p14="http://schemas.microsoft.com/office/powerpoint/2010/main" val="2694695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(EXTRA) Compared with other languages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33" y="1857375"/>
            <a:ext cx="8476431" cy="345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8260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C163D-29C5-8965-3A31-D40C87DE0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52009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286" y="301716"/>
            <a:ext cx="9404723" cy="755297"/>
          </a:xfrm>
        </p:spPr>
        <p:txBody>
          <a:bodyPr/>
          <a:lstStyle/>
          <a:p>
            <a:r>
              <a:rPr lang="en-US" dirty="0"/>
              <a:t>Types of programming Language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249010" y="1118962"/>
            <a:ext cx="11581039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Google Sans"/>
              </a:rPr>
              <a:t>Procedural programming languages</a:t>
            </a:r>
            <a:r>
              <a:rPr lang="en-US" alt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Google Sans"/>
              </a:rPr>
              <a:t>: These languages follow a sequence of commands or statements to achieve a desired output. Example: Python, C, Fortran, Pascal, </a:t>
            </a:r>
            <a:r>
              <a:rPr lang="en-US" alt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Google Sans"/>
              </a:rPr>
              <a:t>etc</a:t>
            </a:r>
            <a:endParaRPr lang="en-US" alt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Google Sans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Google Sans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Google Sans"/>
              </a:rPr>
              <a:t>Object-oriented programming languages (OOP)</a:t>
            </a:r>
            <a:r>
              <a:rPr lang="en-US" alt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Google Sans"/>
              </a:rPr>
              <a:t>: These languages help manage complexity in large programs by using class(say, Planets) and objects(say mars, </a:t>
            </a:r>
            <a:r>
              <a:rPr lang="en-US" alt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Google Sans"/>
              </a:rPr>
              <a:t>saturn</a:t>
            </a:r>
            <a:r>
              <a:rPr lang="en-US" alt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Google Sans"/>
              </a:rPr>
              <a:t>, earth, </a:t>
            </a:r>
            <a:r>
              <a:rPr lang="en-US" alt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Google Sans"/>
              </a:rPr>
              <a:t>etc</a:t>
            </a:r>
            <a:r>
              <a:rPr lang="en-US" alt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Google Sans"/>
              </a:rPr>
              <a:t>). Example: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Java, Python, C++, C#, Delphi/Object Pascal, VB.NET</a:t>
            </a:r>
          </a:p>
          <a:p>
            <a:pPr lvl="0">
              <a:buFontTx/>
              <a:buChar char="•"/>
            </a:pPr>
            <a:endParaRPr lang="en-US" alt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Google Sans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Google Sans"/>
              </a:rPr>
              <a:t>Scripting languages</a:t>
            </a:r>
            <a:r>
              <a:rPr lang="en-US" alt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Google Sans"/>
              </a:rPr>
              <a:t>: These languages are used for specific purposes, such as web development. Example JavaScript, PHP, Python, Bash, Perl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Google Sans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Google Sans"/>
              </a:rPr>
              <a:t>Logic programming languages</a:t>
            </a:r>
            <a:r>
              <a:rPr lang="en-US" alt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Google Sans"/>
              </a:rPr>
              <a:t>: These are another type of programming language. 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logic programming focuses on what the program should achieve: You define rules and facts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(Knowledge Representation),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the system determines how to use them to reach a solution. </a:t>
            </a:r>
            <a:r>
              <a:rPr lang="en-US" alt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Google Sans"/>
              </a:rPr>
              <a:t>Example Prolog,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 Set Programming (ASP)</a:t>
            </a:r>
            <a:endParaRPr lang="en-US" alt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33697330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 of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2171" y="1825624"/>
            <a:ext cx="10671629" cy="4763861"/>
          </a:xfrm>
        </p:spPr>
        <p:txBody>
          <a:bodyPr>
            <a:noAutofit/>
          </a:bodyPr>
          <a:lstStyle/>
          <a:p>
            <a:r>
              <a:rPr lang="en-US" sz="2000" dirty="0"/>
              <a:t>Created by </a:t>
            </a:r>
            <a:r>
              <a:rPr lang="en-US" sz="2000" b="1" dirty="0"/>
              <a:t>Guido van Rossum</a:t>
            </a:r>
            <a:r>
              <a:rPr lang="en-US" sz="2000" dirty="0"/>
              <a:t> in 1991. </a:t>
            </a:r>
          </a:p>
          <a:p>
            <a:r>
              <a:rPr lang="en-US" sz="2000" b="1" dirty="0"/>
              <a:t>Python 1.x (1991-2000)</a:t>
            </a:r>
            <a:endParaRPr lang="en-US" sz="2000" dirty="0"/>
          </a:p>
          <a:p>
            <a:pPr lvl="1"/>
            <a:r>
              <a:rPr lang="en-US" sz="2000" dirty="0"/>
              <a:t>Introduced core features like exception handling, functions, and modules.</a:t>
            </a:r>
          </a:p>
          <a:p>
            <a:pPr lvl="1"/>
            <a:r>
              <a:rPr lang="en-US" sz="2000" dirty="0"/>
              <a:t>Included basic data structures like lists, tuples, and dictionaries.</a:t>
            </a:r>
          </a:p>
          <a:p>
            <a:r>
              <a:rPr lang="en-US" sz="2000" b="1" dirty="0"/>
              <a:t>Python 2.x (2000-2010)</a:t>
            </a:r>
            <a:endParaRPr lang="en-US" sz="2000" dirty="0"/>
          </a:p>
          <a:p>
            <a:pPr lvl="1"/>
            <a:r>
              <a:rPr lang="en-US" sz="2000" dirty="0"/>
              <a:t>Added list comprehensions, garbage collection, and Unicode support.</a:t>
            </a:r>
          </a:p>
          <a:p>
            <a:pPr lvl="1"/>
            <a:r>
              <a:rPr lang="en-US" sz="2000" dirty="0"/>
              <a:t>However, it suffered from inconsistencies, leading to Python 3.</a:t>
            </a:r>
          </a:p>
          <a:p>
            <a:r>
              <a:rPr lang="en-US" sz="2000" b="1" dirty="0"/>
              <a:t>Python 3.x (2008-Present)</a:t>
            </a:r>
            <a:endParaRPr lang="en-US" sz="2000" dirty="0"/>
          </a:p>
          <a:p>
            <a:pPr lvl="1"/>
            <a:r>
              <a:rPr lang="en-US" sz="2000" dirty="0"/>
              <a:t>Introduced better Unicode handling, print as a function, and type hints.</a:t>
            </a:r>
          </a:p>
          <a:p>
            <a:pPr lvl="1"/>
            <a:r>
              <a:rPr lang="en-US" sz="2000" dirty="0"/>
              <a:t>Removed legacy features for better consistency.</a:t>
            </a:r>
          </a:p>
          <a:p>
            <a:pPr lvl="1"/>
            <a:r>
              <a:rPr lang="en-US" sz="2000" dirty="0"/>
              <a:t>Gained popularity for web development, AI, and data science.</a:t>
            </a:r>
          </a:p>
          <a:p>
            <a:r>
              <a:rPr lang="en-US" sz="2000" dirty="0"/>
              <a:t>Over time, Python has become one of the most widely used programming languages, with major contributions in </a:t>
            </a:r>
            <a:r>
              <a:rPr lang="en-US" sz="2000" b="1" dirty="0"/>
              <a:t>machine learning, data science, automation, and web development</a:t>
            </a:r>
            <a:r>
              <a:rPr lang="en-US" sz="2000" dirty="0"/>
              <a:t>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905443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is Python Used?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3283856" cy="3443062"/>
          </a:xfrm>
        </p:spPr>
        <p:txBody>
          <a:bodyPr>
            <a:normAutofit/>
          </a:bodyPr>
          <a:lstStyle/>
          <a:p>
            <a:r>
              <a:rPr lang="en-US" sz="1800" dirty="0"/>
              <a:t>Web Development (Django, Flask)</a:t>
            </a:r>
          </a:p>
          <a:p>
            <a:r>
              <a:rPr lang="en-US" sz="1800" dirty="0"/>
              <a:t>Data Science &amp; AI (</a:t>
            </a:r>
            <a:r>
              <a:rPr lang="en-US" sz="1800" dirty="0" err="1"/>
              <a:t>NumPy</a:t>
            </a:r>
            <a:r>
              <a:rPr lang="en-US" sz="1800" dirty="0"/>
              <a:t>, Pandas, </a:t>
            </a:r>
            <a:r>
              <a:rPr lang="en-US" sz="1800" dirty="0" err="1"/>
              <a:t>TensorFlow</a:t>
            </a:r>
            <a:r>
              <a:rPr lang="en-US" sz="1800" dirty="0"/>
              <a:t>)</a:t>
            </a:r>
          </a:p>
          <a:p>
            <a:r>
              <a:rPr lang="en-US" sz="1800" dirty="0"/>
              <a:t>Automation &amp; Scripting (Selenium, </a:t>
            </a:r>
            <a:r>
              <a:rPr lang="en-US" sz="1800" dirty="0" err="1"/>
              <a:t>PyAutoGUI</a:t>
            </a:r>
            <a:r>
              <a:rPr lang="en-US" sz="1800" dirty="0"/>
              <a:t>)</a:t>
            </a:r>
          </a:p>
          <a:p>
            <a:r>
              <a:rPr lang="en-US" sz="1800" dirty="0"/>
              <a:t>Cybersecurity (</a:t>
            </a:r>
            <a:r>
              <a:rPr lang="en-US" sz="1800" dirty="0" err="1"/>
              <a:t>Scapy</a:t>
            </a:r>
            <a:r>
              <a:rPr lang="en-US" sz="1800" dirty="0"/>
              <a:t>, </a:t>
            </a:r>
            <a:r>
              <a:rPr lang="en-US" sz="1800" dirty="0" err="1"/>
              <a:t>Nmap</a:t>
            </a:r>
            <a:r>
              <a:rPr lang="en-US" sz="1800" dirty="0"/>
              <a:t>)</a:t>
            </a:r>
          </a:p>
          <a:p>
            <a:r>
              <a:rPr lang="en-US" sz="1800" dirty="0"/>
              <a:t>Game Development (</a:t>
            </a:r>
            <a:r>
              <a:rPr lang="en-US" sz="1800" dirty="0" err="1"/>
              <a:t>Pygame</a:t>
            </a:r>
            <a:r>
              <a:rPr lang="en-US" sz="1800" dirty="0"/>
              <a:t>)</a:t>
            </a:r>
          </a:p>
          <a:p>
            <a:r>
              <a:rPr lang="en-US" sz="1800" dirty="0"/>
              <a:t>Embedded Systems &amp; </a:t>
            </a:r>
            <a:r>
              <a:rPr lang="en-US" sz="1800" dirty="0" err="1"/>
              <a:t>IoT</a:t>
            </a:r>
            <a:r>
              <a:rPr lang="en-US" sz="1800" dirty="0"/>
              <a:t> (</a:t>
            </a:r>
            <a:r>
              <a:rPr lang="en-US" sz="1800" dirty="0" err="1"/>
              <a:t>MicroPython</a:t>
            </a:r>
            <a:r>
              <a:rPr lang="en-US" sz="1800" dirty="0"/>
              <a:t>, Raspberry Pi)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7984" y="1611086"/>
            <a:ext cx="7458972" cy="3869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5394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706257" cy="694417"/>
          </a:xfrm>
        </p:spPr>
        <p:txBody>
          <a:bodyPr>
            <a:normAutofit fontScale="90000"/>
          </a:bodyPr>
          <a:lstStyle/>
          <a:p>
            <a:r>
              <a:rPr lang="en-US" dirty="0"/>
              <a:t>Popularity contest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57969"/>
            <a:ext cx="2543629" cy="3951061"/>
          </a:xfrm>
        </p:spPr>
        <p:txBody>
          <a:bodyPr>
            <a:normAutofit/>
          </a:bodyPr>
          <a:lstStyle/>
          <a:p>
            <a:r>
              <a:rPr lang="en-US" sz="1800" dirty="0"/>
              <a:t>According to current trends, the most widely used programming languages are </a:t>
            </a:r>
            <a:r>
              <a:rPr lang="en-US" sz="1800" b="1" dirty="0"/>
              <a:t>Python, Java, and JavaScript</a:t>
            </a:r>
            <a:r>
              <a:rPr lang="en-US" sz="1800" dirty="0"/>
              <a:t>; with Python generally considered the most popular overall, followed by Java and then JavaScript, based on data from the TIOBE Index and other developer surveys. 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0533" y="1059542"/>
            <a:ext cx="6416674" cy="510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453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162" y="368828"/>
            <a:ext cx="8279775" cy="839187"/>
          </a:xfrm>
        </p:spPr>
        <p:txBody>
          <a:bodyPr/>
          <a:lstStyle/>
          <a:p>
            <a:pPr algn="ctr"/>
            <a:r>
              <a:rPr lang="en-US" dirty="0"/>
              <a:t>Companies that use Python: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6286" y="1526796"/>
            <a:ext cx="10385571" cy="4721604"/>
          </a:xfrm>
        </p:spPr>
        <p:txBody>
          <a:bodyPr>
            <a:normAutofit fontScale="85000" lnSpcReduction="20000"/>
          </a:bodyPr>
          <a:lstStyle/>
          <a:p>
            <a:r>
              <a:rPr lang="en-US" sz="1600" dirty="0"/>
              <a:t>Google makes extensive use of Python in its web search systems. </a:t>
            </a:r>
          </a:p>
          <a:p>
            <a:r>
              <a:rPr lang="en-US" sz="1600" dirty="0"/>
              <a:t>The popular YouTube video sharing service is largely written in Python. </a:t>
            </a:r>
          </a:p>
          <a:p>
            <a:r>
              <a:rPr lang="en-US" sz="1600" dirty="0"/>
              <a:t>The Dropbox storage service codes both its server and desktop client software primarily in Python. </a:t>
            </a:r>
          </a:p>
          <a:p>
            <a:r>
              <a:rPr lang="en-US" sz="1600" dirty="0"/>
              <a:t>The Raspberry Pi single-board computer promotes Python as its educational language. </a:t>
            </a:r>
          </a:p>
          <a:p>
            <a:r>
              <a:rPr lang="en-US" sz="1600" dirty="0"/>
              <a:t>EVE Online, a massively multiplayer online game (MMOG) by CCP Games, uses Python broadly. </a:t>
            </a:r>
          </a:p>
          <a:p>
            <a:r>
              <a:rPr lang="en-US" sz="1600" dirty="0"/>
              <a:t>The widespread </a:t>
            </a:r>
            <a:r>
              <a:rPr lang="en-US" sz="1600" dirty="0" err="1"/>
              <a:t>BitTorrent</a:t>
            </a:r>
            <a:r>
              <a:rPr lang="en-US" sz="1600" dirty="0"/>
              <a:t> peer-to-peer file sharing system began its life as a Python program. </a:t>
            </a:r>
          </a:p>
          <a:p>
            <a:r>
              <a:rPr lang="en-US" sz="1600" dirty="0"/>
              <a:t>Industrial Light &amp; Magic, Pixar, and others use Python in the production of animated movies. </a:t>
            </a:r>
          </a:p>
          <a:p>
            <a:r>
              <a:rPr lang="en-US" sz="1600" dirty="0"/>
              <a:t>ESRI uses Python as an end-user customization tool for its popular GIS mapping products. </a:t>
            </a:r>
          </a:p>
          <a:p>
            <a:r>
              <a:rPr lang="en-US" sz="1600" dirty="0"/>
              <a:t>Google’s App Engine web development framework uses Python as an application language. </a:t>
            </a:r>
          </a:p>
          <a:p>
            <a:r>
              <a:rPr lang="en-US" sz="1600" dirty="0"/>
              <a:t>The IronPort email server product uses more than 1 million lines of Python code to do its job. </a:t>
            </a:r>
          </a:p>
          <a:p>
            <a:r>
              <a:rPr lang="en-US" sz="1600" dirty="0"/>
              <a:t>Maya, a powerful integrated 3D modeling and animation system, provides a Python scripting API. </a:t>
            </a:r>
          </a:p>
          <a:p>
            <a:r>
              <a:rPr lang="en-US" sz="1600" dirty="0"/>
              <a:t>The NSA uses Python for cryptography and intelligence analysis. </a:t>
            </a:r>
          </a:p>
          <a:p>
            <a:r>
              <a:rPr lang="en-US" sz="1600" dirty="0"/>
              <a:t>iRobot uses Python to develop commercial and military robotic devices.</a:t>
            </a:r>
          </a:p>
          <a:p>
            <a:r>
              <a:rPr lang="en-US" sz="1600" dirty="0"/>
              <a:t>Netflix and Yelp have both documented the role of Python in their software infrastructures.</a:t>
            </a:r>
          </a:p>
          <a:p>
            <a:r>
              <a:rPr lang="en-US" sz="1600" dirty="0"/>
              <a:t>Intel, Cisco, Hewlett-Packard, Seagate, Qualcomm, and IBM use Python for hardware testing. </a:t>
            </a:r>
          </a:p>
          <a:p>
            <a:r>
              <a:rPr lang="en-US" sz="1600" dirty="0"/>
              <a:t>JPMorgan Chase, UBS, </a:t>
            </a:r>
            <a:r>
              <a:rPr lang="en-US" sz="1600" dirty="0" err="1"/>
              <a:t>Getco</a:t>
            </a:r>
            <a:r>
              <a:rPr lang="en-US" sz="1600" dirty="0"/>
              <a:t>, and Citadel apply Python to financial market forecasting. </a:t>
            </a:r>
          </a:p>
          <a:p>
            <a:r>
              <a:rPr lang="en-US" sz="1600" dirty="0"/>
              <a:t>NASA, Los Alamos, </a:t>
            </a:r>
            <a:r>
              <a:rPr lang="en-US" sz="1600" dirty="0" err="1"/>
              <a:t>Fermilab</a:t>
            </a:r>
            <a:r>
              <a:rPr lang="en-US" sz="1600" dirty="0"/>
              <a:t>, JPL, and others use Python for scientific programming tasks</a:t>
            </a:r>
          </a:p>
        </p:txBody>
      </p:sp>
    </p:spTree>
    <p:extLst>
      <p:ext uri="{BB962C8B-B14F-4D97-AF65-F5344CB8AC3E}">
        <p14:creationId xmlns:p14="http://schemas.microsoft.com/office/powerpoint/2010/main" val="39417124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1297"/>
            <a:ext cx="10515600" cy="883104"/>
          </a:xfrm>
        </p:spPr>
        <p:txBody>
          <a:bodyPr/>
          <a:lstStyle/>
          <a:p>
            <a:r>
              <a:rPr lang="en-US" dirty="0"/>
              <a:t>Disadvantages of Python(p2)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83798"/>
            <a:ext cx="10515600" cy="17711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2. High Memory Usage</a:t>
            </a:r>
          </a:p>
          <a:p>
            <a:pPr marL="0" indent="0">
              <a:buNone/>
            </a:pPr>
            <a:r>
              <a:rPr lang="en-US" sz="2400" b="1" dirty="0"/>
              <a:t>Reason:</a:t>
            </a:r>
            <a:r>
              <a:rPr lang="en-US" sz="2400" dirty="0"/>
              <a:t> Python’s dynamic typing and garbage collection lead to high memory consumption.</a:t>
            </a:r>
            <a:br>
              <a:rPr lang="en-US" sz="2400" dirty="0"/>
            </a:br>
            <a:r>
              <a:rPr lang="en-US" sz="2400" b="1" dirty="0"/>
              <a:t>Impact:</a:t>
            </a:r>
            <a:r>
              <a:rPr lang="en-US" sz="2400" dirty="0"/>
              <a:t> Not ideal for applications with </a:t>
            </a:r>
            <a:r>
              <a:rPr lang="en-US" sz="2400" b="1" dirty="0"/>
              <a:t>limited memory</a:t>
            </a:r>
            <a:r>
              <a:rPr lang="en-US" sz="2400" dirty="0"/>
              <a:t> (e.g., embedded systems).</a:t>
            </a:r>
          </a:p>
          <a:p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595086" y="5588001"/>
            <a:ext cx="99422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Lists consume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more memory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than arrays in C/C++.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Solution: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Use </a:t>
            </a:r>
            <a:r>
              <a:rPr lang="en-US" sz="2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NumPy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arrays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instead of lists for large data.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50" y="2754992"/>
            <a:ext cx="5408737" cy="2628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7140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1297"/>
            <a:ext cx="10515600" cy="578303"/>
          </a:xfrm>
        </p:spPr>
        <p:txBody>
          <a:bodyPr>
            <a:normAutofit fontScale="90000"/>
          </a:bodyPr>
          <a:lstStyle/>
          <a:p>
            <a:r>
              <a:rPr lang="en-US" dirty="0"/>
              <a:t>Disadvantages of Python(p3)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6744" y="725715"/>
            <a:ext cx="4847770" cy="60234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e-DE" sz="1800" dirty="0"/>
              <a:t>3. </a:t>
            </a:r>
            <a:r>
              <a:rPr lang="de-DE" sz="1800" b="1" dirty="0"/>
              <a:t>Global Interpreter Lock (GIL)</a:t>
            </a:r>
            <a:endParaRPr lang="en-US" sz="1800" b="1" dirty="0"/>
          </a:p>
          <a:p>
            <a:r>
              <a:rPr lang="en-US" sz="1800" dirty="0"/>
              <a:t>Reason: Only one thread executes at a time</a:t>
            </a:r>
          </a:p>
          <a:p>
            <a:r>
              <a:rPr lang="en-US" sz="1800" dirty="0"/>
              <a:t>Impact: Inefficient multi-threading for CPU-bound tasks</a:t>
            </a:r>
          </a:p>
          <a:p>
            <a:r>
              <a:rPr lang="en-US" sz="1800" dirty="0"/>
              <a:t>Solution: Use multiprocessing for CPU-heavy tasks</a:t>
            </a:r>
          </a:p>
          <a:p>
            <a:pPr marL="0" indent="0">
              <a:buNone/>
            </a:pPr>
            <a:r>
              <a:rPr lang="en-US" sz="1800" b="1" dirty="0"/>
              <a:t>4. Weak in Mobile &amp; Game Development</a:t>
            </a:r>
          </a:p>
          <a:p>
            <a:r>
              <a:rPr lang="en-US" sz="1800" dirty="0"/>
              <a:t>Reason: Not optimized for mobile or games</a:t>
            </a:r>
          </a:p>
          <a:p>
            <a:r>
              <a:rPr lang="en-US" sz="1800" dirty="0"/>
              <a:t>Impact: Rarely used for Android/iOS apps or major games</a:t>
            </a:r>
          </a:p>
          <a:p>
            <a:r>
              <a:rPr lang="en-US" sz="1800" dirty="0"/>
              <a:t>Solution: Use </a:t>
            </a:r>
            <a:r>
              <a:rPr lang="en-US" sz="1800" dirty="0" err="1"/>
              <a:t>Kivy</a:t>
            </a:r>
            <a:r>
              <a:rPr lang="en-US" sz="1800" dirty="0"/>
              <a:t> or </a:t>
            </a:r>
            <a:r>
              <a:rPr lang="en-US" sz="1800" dirty="0" err="1"/>
              <a:t>BeeWare</a:t>
            </a:r>
            <a:r>
              <a:rPr lang="en-US" sz="1800" dirty="0"/>
              <a:t> (limited support)</a:t>
            </a:r>
          </a:p>
          <a:p>
            <a:pPr marL="0" indent="0">
              <a:buNone/>
            </a:pPr>
            <a:r>
              <a:rPr lang="en-US" sz="1800" b="1" dirty="0"/>
              <a:t>5. Limited Support for Frontend Web Development</a:t>
            </a:r>
          </a:p>
          <a:p>
            <a:r>
              <a:rPr lang="en-US" sz="1800" dirty="0"/>
              <a:t>Reason: Primarily a backend language</a:t>
            </a:r>
          </a:p>
          <a:p>
            <a:r>
              <a:rPr lang="en-US" sz="1800" dirty="0"/>
              <a:t>Impact: Cannot replace JavaScript for frontend</a:t>
            </a:r>
          </a:p>
          <a:p>
            <a:r>
              <a:rPr lang="en-US" sz="1800" dirty="0"/>
              <a:t>Solution: Use JavaScript + Python for full-stack</a:t>
            </a:r>
          </a:p>
          <a:p>
            <a:endParaRPr lang="en-US" sz="1800" dirty="0"/>
          </a:p>
        </p:txBody>
      </p:sp>
      <p:sp>
        <p:nvSpPr>
          <p:cNvPr id="4" name="TextBox 3"/>
          <p:cNvSpPr txBox="1"/>
          <p:nvPr/>
        </p:nvSpPr>
        <p:spPr>
          <a:xfrm>
            <a:off x="6183086" y="1204686"/>
            <a:ext cx="543321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6. Poor Performance in Real-Time Applications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Reason: Interpreted nature and GIL cause delays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Impact: Not ideal for real-time systems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Solution: Use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Cython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or C/C++ modules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7. Dependency Management Issues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Reason: Multiple versions &amp; libraries lead to conflicts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Impact: Harder to maintain projects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Solution: Use virtual environments (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venv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conda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1712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137</TotalTime>
  <Words>1482</Words>
  <Application>Microsoft Office PowerPoint</Application>
  <PresentationFormat>Widescreen</PresentationFormat>
  <Paragraphs>216</Paragraphs>
  <Slides>21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Google Sans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(EXTRA) Compared with other languages</vt:lpstr>
      <vt:lpstr>PowerPoint Presentation</vt:lpstr>
      <vt:lpstr>Types of programming Language</vt:lpstr>
      <vt:lpstr>Evolution of Python</vt:lpstr>
      <vt:lpstr>Where is Python Used?</vt:lpstr>
      <vt:lpstr>Popularity contest</vt:lpstr>
      <vt:lpstr>Companies that use Python:</vt:lpstr>
      <vt:lpstr>Disadvantages of Python(p2)</vt:lpstr>
      <vt:lpstr>Disadvantages of Python(p3)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55</cp:revision>
  <dcterms:created xsi:type="dcterms:W3CDTF">2025-09-22T02:44:38Z</dcterms:created>
  <dcterms:modified xsi:type="dcterms:W3CDTF">2026-03-15T09:36:42Z</dcterms:modified>
</cp:coreProperties>
</file>