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8" r:id="rId2"/>
    <p:sldId id="273" r:id="rId3"/>
    <p:sldId id="275" r:id="rId4"/>
    <p:sldId id="277" r:id="rId5"/>
    <p:sldId id="274" r:id="rId6"/>
    <p:sldId id="278" r:id="rId7"/>
    <p:sldId id="279" r:id="rId8"/>
    <p:sldId id="280" r:id="rId9"/>
    <p:sldId id="281" r:id="rId10"/>
    <p:sldId id="282" r:id="rId11"/>
    <p:sldId id="276" r:id="rId12"/>
    <p:sldId id="271" r:id="rId13"/>
    <p:sldId id="267" r:id="rId14"/>
    <p:sldId id="269" r:id="rId15"/>
    <p:sldId id="260" r:id="rId16"/>
    <p:sldId id="263" r:id="rId17"/>
    <p:sldId id="266" r:id="rId18"/>
    <p:sldId id="261" r:id="rId19"/>
    <p:sldId id="270" r:id="rId20"/>
    <p:sldId id="264" r:id="rId21"/>
    <p:sldId id="265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99" d="100"/>
          <a:sy n="99" d="100"/>
        </p:scale>
        <p:origin x="1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Computers are powerful, but they are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intelligent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only do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what we tell them to do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97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9D69-39B6-7D45-D4E1-F5F7C3F8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25BBB-8D3D-11D1-09D4-19F869BAE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FFCDC-D65A-F0F2-B9FE-BA111A78E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teaching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obedient robot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🤖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must say: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Move forward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Turn left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Pick up the object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miss a step, the robot fails.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Programming is writing these step-by-step instructions</a:t>
            </a:r>
            <a:r>
              <a:rPr lang="en-US" dirty="0"/>
              <a:t> in a language the computer understands.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FE4B-348D-2103-5647-D01FA3BAD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41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1978-F8A2-1723-AAFC-3C4393E3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1071B-686C-9EF9-AF70-819D0AC4F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2E0AA-161D-A7CD-F9D7-AD64EBCA2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B2D57-2A47-2AC5-2494-B0E20FDD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5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828A-A4F0-3B8C-28C8-EE1F1FF9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DAF74-59BF-5790-D10A-69488BEF4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7CC59-0090-C10B-83F6-F0AAD9D8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1E90-769C-41E9-C0BD-F11B9F632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77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4ACC-EF1B-AF7F-4045-7E8506AF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2E331-16C8-42AB-C629-D7E8A87F4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C3C7B-A414-72AF-6DC8-A97137CEA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A3237-5040-B856-52CA-2DD24E9DF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3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9E93-172A-4FE2-C684-0465A35D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C2335-3222-D2A3-D2E8-23EF23E3D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7F2EE-A119-1CE1-CD1C-575337BCB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to turn Ideas into reality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89401-AC10-1D5F-3E3A-8C1550186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4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2844-8E95-891E-3EF8-C0F1A34B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1C2D2-C2D9-7D8D-1F88-438F1138F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E05EF-A6AD-FE87-7F70-E9959A1F9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to turn Ideas into reality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283ED-DD64-C9FB-832A-942C4DC0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6142-B5E5-C17E-5D11-01BFF7F0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5A765-9565-6BFE-51B5-DD5D48C9D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EB98A-B973-0838-58E0-6BF32139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812F-63B5-D702-7B65-162BA8894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8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4.jpg"/><Relationship Id="rId7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17.jp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B1B2D4-8C10-F549-FE7D-8E39E846FD3D}"/>
              </a:ext>
            </a:extLst>
          </p:cNvPr>
          <p:cNvSpPr txBox="1"/>
          <p:nvPr/>
        </p:nvSpPr>
        <p:spPr>
          <a:xfrm>
            <a:off x="342899" y="2245513"/>
            <a:ext cx="11430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Programming is the process of giving instructions to a computer so it can perform tasks for us.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46D32-0754-1891-66E1-E15C36248991}"/>
              </a:ext>
            </a:extLst>
          </p:cNvPr>
          <p:cNvSpPr txBox="1"/>
          <p:nvPr/>
        </p:nvSpPr>
        <p:spPr>
          <a:xfrm>
            <a:off x="3009900" y="110609"/>
            <a:ext cx="619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Programming?</a:t>
            </a:r>
          </a:p>
        </p:txBody>
      </p:sp>
    </p:spTree>
    <p:extLst>
      <p:ext uri="{BB962C8B-B14F-4D97-AF65-F5344CB8AC3E}">
        <p14:creationId xmlns:p14="http://schemas.microsoft.com/office/powerpoint/2010/main" val="370464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0327-075E-12C9-98F7-16EFDAF2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robot&#10;&#10;AI-generated content may be incorrect.">
            <a:extLst>
              <a:ext uri="{FF2B5EF4-FFF2-40B4-BE49-F238E27FC236}">
                <a16:creationId xmlns:a16="http://schemas.microsoft.com/office/drawing/2014/main" id="{F1CED368-0B96-911E-DE4B-998B47BD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373" y="1304925"/>
            <a:ext cx="4730627" cy="4439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4FA90B-51C0-E66B-29BA-06E3F03F533D}"/>
              </a:ext>
            </a:extLst>
          </p:cNvPr>
          <p:cNvSpPr txBox="1"/>
          <p:nvPr/>
        </p:nvSpPr>
        <p:spPr>
          <a:xfrm>
            <a:off x="3009900" y="110609"/>
            <a:ext cx="619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Programming?</a:t>
            </a:r>
          </a:p>
        </p:txBody>
      </p:sp>
    </p:spTree>
    <p:extLst>
      <p:ext uri="{BB962C8B-B14F-4D97-AF65-F5344CB8AC3E}">
        <p14:creationId xmlns:p14="http://schemas.microsoft.com/office/powerpoint/2010/main" val="417036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CB05-596C-D433-8A2B-2D0C5C04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FC97E0-638D-097E-16EA-E96614DED6D0}"/>
              </a:ext>
            </a:extLst>
          </p:cNvPr>
          <p:cNvSpPr txBox="1"/>
          <p:nvPr/>
        </p:nvSpPr>
        <p:spPr>
          <a:xfrm>
            <a:off x="142874" y="367010"/>
            <a:ext cx="117824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Program?</a:t>
            </a:r>
          </a:p>
          <a:p>
            <a:pPr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set of instructions written in a programming language.</a:t>
            </a:r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2D663F41-D993-A827-5154-8B32A291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75017"/>
            <a:ext cx="10116316" cy="37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7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E74D-A7A1-4AAB-F9BE-37D5F2C5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141AA4-424E-9163-B6FA-20CDF2C4FE77}"/>
              </a:ext>
            </a:extLst>
          </p:cNvPr>
          <p:cNvSpPr txBox="1"/>
          <p:nvPr/>
        </p:nvSpPr>
        <p:spPr>
          <a:xfrm>
            <a:off x="142874" y="367010"/>
            <a:ext cx="11782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different programming languages 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B2912-A33D-5DE5-7535-AF870B310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521" y="1835731"/>
            <a:ext cx="2120694" cy="1003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2111BE-26BC-82B9-F0E3-DA4D2305C5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366" y="1999479"/>
            <a:ext cx="4747388" cy="1545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2DB87-069B-27F8-B6B2-D8438D8E27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652" y="5471936"/>
            <a:ext cx="4886174" cy="1222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6430BB-02F0-3BE0-7B19-FD08C738E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29" y="4148892"/>
            <a:ext cx="1469552" cy="1038017"/>
          </a:xfrm>
          <a:prstGeom prst="rect">
            <a:avLst/>
          </a:prstGeom>
        </p:spPr>
      </p:pic>
      <p:pic>
        <p:nvPicPr>
          <p:cNvPr id="11" name="Picture 10" descr="A blue and grey logo&#10;&#10;AI-generated content may be incorrect.">
            <a:extLst>
              <a:ext uri="{FF2B5EF4-FFF2-40B4-BE49-F238E27FC236}">
                <a16:creationId xmlns:a16="http://schemas.microsoft.com/office/drawing/2014/main" id="{BFA0C3F4-839B-C0F9-CD45-5D7F030E57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35" y="1826525"/>
            <a:ext cx="2160174" cy="1222516"/>
          </a:xfrm>
          <a:prstGeom prst="rect">
            <a:avLst/>
          </a:prstGeom>
        </p:spPr>
      </p:pic>
      <p:pic>
        <p:nvPicPr>
          <p:cNvPr id="13" name="Picture 12" descr="A blackboard with green letters and a plus&#10;&#10;AI-generated content may be incorrect.">
            <a:extLst>
              <a:ext uri="{FF2B5EF4-FFF2-40B4-BE49-F238E27FC236}">
                <a16:creationId xmlns:a16="http://schemas.microsoft.com/office/drawing/2014/main" id="{A54F5594-735F-D223-8E47-ACD6675A62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3392" y="3311114"/>
            <a:ext cx="2120694" cy="1789335"/>
          </a:xfrm>
          <a:prstGeom prst="rect">
            <a:avLst/>
          </a:prstGeom>
        </p:spPr>
      </p:pic>
      <p:pic>
        <p:nvPicPr>
          <p:cNvPr id="15" name="Picture 14" descr="A blue and white logo&#10;&#10;AI-generated content may be incorrect.">
            <a:extLst>
              <a:ext uri="{FF2B5EF4-FFF2-40B4-BE49-F238E27FC236}">
                <a16:creationId xmlns:a16="http://schemas.microsoft.com/office/drawing/2014/main" id="{0C5E87B8-DE41-6014-02D0-97AF0110B5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8802" y="808788"/>
            <a:ext cx="2257740" cy="666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4F7970-995A-C724-CFAF-E5771D8B0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3035" y="4404010"/>
            <a:ext cx="2093057" cy="7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3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1E3C-19BD-C364-990B-2DE157CB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F8C66F-5350-1DFF-A59E-1B48E8641DD1}"/>
              </a:ext>
            </a:extLst>
          </p:cNvPr>
          <p:cNvSpPr txBox="1"/>
          <p:nvPr/>
        </p:nvSpPr>
        <p:spPr>
          <a:xfrm>
            <a:off x="742950" y="840939"/>
            <a:ext cx="91821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Can Programming Do?</a:t>
            </a:r>
          </a:p>
          <a:p>
            <a:pPr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programming, we can: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mobile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AI &amp; Machine Learning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games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 medical systems</a:t>
            </a:r>
          </a:p>
        </p:txBody>
      </p:sp>
    </p:spTree>
    <p:extLst>
      <p:ext uri="{BB962C8B-B14F-4D97-AF65-F5344CB8AC3E}">
        <p14:creationId xmlns:p14="http://schemas.microsoft.com/office/powerpoint/2010/main" val="314687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5500-28A4-EDFF-CB2B-0E963495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839B0E-3DB5-4A4A-BC83-B47D048322E8}"/>
              </a:ext>
            </a:extLst>
          </p:cNvPr>
          <p:cNvSpPr txBox="1"/>
          <p:nvPr/>
        </p:nvSpPr>
        <p:spPr>
          <a:xfrm>
            <a:off x="228600" y="1191310"/>
            <a:ext cx="84772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Easy to Learn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this to other languages: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Fewer symbols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confusing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read and write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Perfect for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beginners</a:t>
            </a:r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No programming background required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29794-A470-EB2B-43D2-6865E4E49ACA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302680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4A87-C30F-FB93-7F32-3A6919E2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D942A7-B697-627E-742F-A800F95B05D8}"/>
              </a:ext>
            </a:extLst>
          </p:cNvPr>
          <p:cNvSpPr txBox="1"/>
          <p:nvPr/>
        </p:nvSpPr>
        <p:spPr>
          <a:xfrm>
            <a:off x="228600" y="1143685"/>
            <a:ext cx="84772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Beginner-Friendly but Powerful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used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Professionals, Scientists, AI Engineers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A4E91-179E-8CF3-61B1-5297A024E349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2694681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F5DA-6498-4B35-9A91-9F929852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3622CB-F83C-0410-8221-935BA5B974CF}"/>
              </a:ext>
            </a:extLst>
          </p:cNvPr>
          <p:cNvSpPr txBox="1"/>
          <p:nvPr/>
        </p:nvSpPr>
        <p:spPr>
          <a:xfrm>
            <a:off x="228600" y="800785"/>
            <a:ext cx="1011555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Has Huge Community &amp; Libraries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has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ready-made tools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(called libraries):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math &amp; arrays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data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matplotlib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plotting 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machine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pytorch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deep learning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write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code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build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powerful applications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86175-E387-EAB6-C969-79A3C2004EC7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  <p:pic>
        <p:nvPicPr>
          <p:cNvPr id="3" name="Picture 2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25EA1151-CCA6-42D7-F521-4CC5E8EC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537" y="1916823"/>
            <a:ext cx="2933897" cy="832311"/>
          </a:xfrm>
          <a:prstGeom prst="rect">
            <a:avLst/>
          </a:prstGeom>
        </p:spPr>
      </p:pic>
      <p:pic>
        <p:nvPicPr>
          <p:cNvPr id="5" name="Picture 4" descr="A blue and white sign with white letters&#10;&#10;AI-generated content may be incorrect.">
            <a:extLst>
              <a:ext uri="{FF2B5EF4-FFF2-40B4-BE49-F238E27FC236}">
                <a16:creationId xmlns:a16="http://schemas.microsoft.com/office/drawing/2014/main" id="{98BE1F94-0941-458F-7FE7-AB41D0EF4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038" y="2749134"/>
            <a:ext cx="2399016" cy="832311"/>
          </a:xfrm>
          <a:prstGeom prst="rect">
            <a:avLst/>
          </a:prstGeom>
        </p:spPr>
      </p:pic>
      <p:pic>
        <p:nvPicPr>
          <p:cNvPr id="7" name="Picture 6" descr="A blue text with a white background&#10;&#10;AI-generated content may be incorrect.">
            <a:extLst>
              <a:ext uri="{FF2B5EF4-FFF2-40B4-BE49-F238E27FC236}">
                <a16:creationId xmlns:a16="http://schemas.microsoft.com/office/drawing/2014/main" id="{D2040B8D-EA15-4DF3-0B46-F816040B8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855" y="3753521"/>
            <a:ext cx="2029108" cy="495369"/>
          </a:xfrm>
          <a:prstGeom prst="rect">
            <a:avLst/>
          </a:prstGeom>
        </p:spPr>
      </p:pic>
      <p:pic>
        <p:nvPicPr>
          <p:cNvPr id="11" name="Picture 10" descr="A logo of a group of people&#10;&#10;AI-generated content may be incorrect.">
            <a:extLst>
              <a:ext uri="{FF2B5EF4-FFF2-40B4-BE49-F238E27FC236}">
                <a16:creationId xmlns:a16="http://schemas.microsoft.com/office/drawing/2014/main" id="{C16EAD4B-E3FE-B7F4-1116-2EF89AADD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732" y="4248890"/>
            <a:ext cx="2038635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4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AD46C-096F-4CA9-56A8-82618AB3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521E19-FD7C-F5B4-9FED-9B5B4A9663B9}"/>
              </a:ext>
            </a:extLst>
          </p:cNvPr>
          <p:cNvSpPr txBox="1"/>
          <p:nvPr/>
        </p:nvSpPr>
        <p:spPr>
          <a:xfrm>
            <a:off x="1495425" y="2734360"/>
            <a:ext cx="8477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Ideas into Reality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8B7F3-6C91-1242-DFDE-C2078D410523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177271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79DE-DA01-F265-024D-CF8C524F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7569DA-6474-83C3-923B-70FFBE4357C5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69469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163D-29C5-8965-3A31-D40C87DE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200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B727-B94C-EBE4-01CE-484E7ACE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B831-F1E6-98DF-7B21-817DBAB2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2. Introduction to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49B6-B011-510E-C52E-54108AC3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974"/>
            <a:ext cx="10515600" cy="1135689"/>
          </a:xfrm>
        </p:spPr>
        <p:txBody>
          <a:bodyPr>
            <a:normAutofit/>
          </a:bodyPr>
          <a:lstStyle/>
          <a:p>
            <a:r>
              <a:rPr lang="en-US" sz="1600" dirty="0"/>
              <a:t>Process that involves writing instructions for a computer to follow in order to solve problems. The instructions are written in a language that the computer can understand, and this process is a collaboration between humans and computers.</a:t>
            </a:r>
          </a:p>
          <a:p>
            <a:r>
              <a:rPr lang="en-US" sz="1600" dirty="0"/>
              <a:t>Common languages are Python, C, C++, java, </a:t>
            </a:r>
            <a:r>
              <a:rPr lang="en-US" sz="1600" dirty="0" err="1"/>
              <a:t>GoLang</a:t>
            </a:r>
            <a:r>
              <a:rPr lang="en-US" sz="1600" dirty="0"/>
              <a:t>, C#, R, </a:t>
            </a:r>
            <a:r>
              <a:rPr lang="en-US" sz="1600" dirty="0" err="1"/>
              <a:t>VB.Net</a:t>
            </a:r>
            <a:r>
              <a:rPr lang="en-US" sz="1600" dirty="0"/>
              <a:t>, PHP, R, Fortran, Pascal, Bash, PERL, prolog </a:t>
            </a:r>
            <a:r>
              <a:rPr lang="en-US" sz="1600" dirty="0" err="1"/>
              <a:t>etc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12306-7EEE-6391-DA3C-6B8D3236AB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8807"/>
            <a:ext cx="3160983" cy="130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B533FE-FA88-00A6-29A4-157D679A2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047" y="3377006"/>
            <a:ext cx="1247775" cy="590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32CDB8-12F3-A561-F863-2829F2689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140" y="3060599"/>
            <a:ext cx="4295163" cy="1398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0A6E53-A286-A9C5-8DDD-0BC5316B05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9" y="4841387"/>
            <a:ext cx="3404398" cy="1781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37CA29-152B-2EB3-13AD-2F63375CB4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941" y="5476629"/>
            <a:ext cx="4011554" cy="1003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B254A4-9B74-6239-3FA7-2DCC70BFF7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997" y="4927470"/>
            <a:ext cx="2730442" cy="1599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6870DA-70CE-1708-6480-E48170D7F2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223" y="4307109"/>
            <a:ext cx="924615" cy="65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45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86" y="301716"/>
            <a:ext cx="9404723" cy="755297"/>
          </a:xfrm>
        </p:spPr>
        <p:txBody>
          <a:bodyPr/>
          <a:lstStyle/>
          <a:p>
            <a:r>
              <a:rPr lang="en-US" dirty="0"/>
              <a:t>Types of programming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4286" y="1414237"/>
            <a:ext cx="107472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Procedural programming languages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follow a sequence of commands or statements to achieve a desired output. Example: Python, C, Fortran, Pascal, </a:t>
            </a:r>
            <a:r>
              <a:rPr lang="en-US" alt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etc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>
              <a:buFontTx/>
              <a:buChar char="•"/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Object-oriented programming languages (OOP)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help manage complexity in large programs by using class(say, Planets) and objects(say mars, </a:t>
            </a:r>
            <a:r>
              <a:rPr lang="en-US" alt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saturn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, </a:t>
            </a:r>
            <a:r>
              <a:rPr lang="en-US" alt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earth,etc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). Example: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Java, Python, C++, C#, Delphi/Object Pascal, VB.NET</a:t>
            </a:r>
          </a:p>
          <a:p>
            <a:pPr lvl="0">
              <a:buFontTx/>
              <a:buChar char="•"/>
            </a:pP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Scripting languages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are used for specific purposes, such as web development. Example JavaScript, PHP, Python, Bash, Perl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>
              <a:buFontTx/>
              <a:buChar char="•"/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Logic programming languages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are another type of programming language. 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 programming focuses on what the program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achieve: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You define rules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and facts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(Knowledge Representation),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the system determines how to use them to reach a solution. </a:t>
            </a: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Example Prolog,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Set Programming (ASP)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733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171" y="1825624"/>
            <a:ext cx="10671629" cy="4763861"/>
          </a:xfrm>
        </p:spPr>
        <p:txBody>
          <a:bodyPr>
            <a:noAutofit/>
          </a:bodyPr>
          <a:lstStyle/>
          <a:p>
            <a:r>
              <a:rPr lang="en-US" sz="2000" dirty="0"/>
              <a:t>Created by </a:t>
            </a:r>
            <a:r>
              <a:rPr lang="en-US" sz="2000" b="1" dirty="0"/>
              <a:t>Guido van Rossum</a:t>
            </a:r>
            <a:r>
              <a:rPr lang="en-US" sz="2000" dirty="0"/>
              <a:t> in 1991. </a:t>
            </a:r>
          </a:p>
          <a:p>
            <a:r>
              <a:rPr lang="en-US" sz="2000" b="1" dirty="0"/>
              <a:t>Python 1.x (1991-2000)</a:t>
            </a:r>
            <a:endParaRPr lang="en-US" sz="2000" dirty="0"/>
          </a:p>
          <a:p>
            <a:pPr lvl="1"/>
            <a:r>
              <a:rPr lang="en-US" sz="2000" dirty="0"/>
              <a:t>Introduced core features like exception handling, functions, and modules.</a:t>
            </a:r>
          </a:p>
          <a:p>
            <a:pPr lvl="1"/>
            <a:r>
              <a:rPr lang="en-US" sz="2000" dirty="0"/>
              <a:t>Included basic data structures like lists, tuples, and dictionaries.</a:t>
            </a:r>
          </a:p>
          <a:p>
            <a:r>
              <a:rPr lang="en-US" sz="2000" b="1" dirty="0"/>
              <a:t>Python 2.x (2000-2010)</a:t>
            </a:r>
            <a:endParaRPr lang="en-US" sz="2000" dirty="0"/>
          </a:p>
          <a:p>
            <a:pPr lvl="1"/>
            <a:r>
              <a:rPr lang="en-US" sz="2000" dirty="0"/>
              <a:t>Added list comprehensions, garbage collection, and Unicode support.</a:t>
            </a:r>
          </a:p>
          <a:p>
            <a:pPr lvl="1"/>
            <a:r>
              <a:rPr lang="en-US" sz="2000" dirty="0"/>
              <a:t>However, it suffered from inconsistencies, leading to Python 3.</a:t>
            </a:r>
          </a:p>
          <a:p>
            <a:r>
              <a:rPr lang="en-US" sz="2000" b="1" dirty="0"/>
              <a:t>Python 3.x (2008-Present)</a:t>
            </a:r>
            <a:endParaRPr lang="en-US" sz="2000" dirty="0"/>
          </a:p>
          <a:p>
            <a:pPr lvl="1"/>
            <a:r>
              <a:rPr lang="en-US" sz="2000" dirty="0"/>
              <a:t>Introduced better Unicode handling, print as a function, and type hints.</a:t>
            </a:r>
          </a:p>
          <a:p>
            <a:pPr lvl="1"/>
            <a:r>
              <a:rPr lang="en-US" sz="2000" dirty="0"/>
              <a:t>Removed legacy features for better consistency.</a:t>
            </a:r>
          </a:p>
          <a:p>
            <a:pPr lvl="1"/>
            <a:r>
              <a:rPr lang="en-US" sz="2000" dirty="0"/>
              <a:t>Gained popularity for web development, AI, and data science.</a:t>
            </a:r>
          </a:p>
          <a:p>
            <a:r>
              <a:rPr lang="en-US" sz="2000" dirty="0"/>
              <a:t>Over time, Python has become one of the most widely used programming languages, with major contributions in </a:t>
            </a:r>
            <a:r>
              <a:rPr lang="en-US" sz="2000" b="1" dirty="0"/>
              <a:t>machine learning, data science, automation, and web development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054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Python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3283856" cy="3443062"/>
          </a:xfrm>
        </p:spPr>
        <p:txBody>
          <a:bodyPr>
            <a:normAutofit/>
          </a:bodyPr>
          <a:lstStyle/>
          <a:p>
            <a:r>
              <a:rPr lang="en-US" sz="1800" dirty="0"/>
              <a:t>Web Development (Django, Flask)</a:t>
            </a:r>
          </a:p>
          <a:p>
            <a:r>
              <a:rPr lang="en-US" sz="1800" dirty="0"/>
              <a:t>Data Science &amp; AI (</a:t>
            </a:r>
            <a:r>
              <a:rPr lang="en-US" sz="1800" dirty="0" err="1"/>
              <a:t>NumPy</a:t>
            </a:r>
            <a:r>
              <a:rPr lang="en-US" sz="1800" dirty="0"/>
              <a:t>, Pandas, </a:t>
            </a:r>
            <a:r>
              <a:rPr lang="en-US" sz="1800" dirty="0" err="1"/>
              <a:t>TensorFlow</a:t>
            </a:r>
            <a:r>
              <a:rPr lang="en-US" sz="1800" dirty="0"/>
              <a:t>)</a:t>
            </a:r>
          </a:p>
          <a:p>
            <a:r>
              <a:rPr lang="en-US" sz="1800" dirty="0"/>
              <a:t>Automation &amp; Scripting (Selenium, </a:t>
            </a:r>
            <a:r>
              <a:rPr lang="en-US" sz="1800" dirty="0" err="1"/>
              <a:t>PyAutoGUI</a:t>
            </a:r>
            <a:r>
              <a:rPr lang="en-US" sz="1800" dirty="0"/>
              <a:t>)</a:t>
            </a:r>
          </a:p>
          <a:p>
            <a:r>
              <a:rPr lang="en-US" sz="1800" dirty="0"/>
              <a:t>Cybersecurity (</a:t>
            </a:r>
            <a:r>
              <a:rPr lang="en-US" sz="1800" dirty="0" err="1"/>
              <a:t>Scapy</a:t>
            </a:r>
            <a:r>
              <a:rPr lang="en-US" sz="1800" dirty="0"/>
              <a:t>, </a:t>
            </a:r>
            <a:r>
              <a:rPr lang="en-US" sz="1800" dirty="0" err="1"/>
              <a:t>Nmap</a:t>
            </a:r>
            <a:r>
              <a:rPr lang="en-US" sz="1800" dirty="0"/>
              <a:t>)</a:t>
            </a:r>
          </a:p>
          <a:p>
            <a:r>
              <a:rPr lang="en-US" sz="1800" dirty="0"/>
              <a:t>Game Development (</a:t>
            </a:r>
            <a:r>
              <a:rPr lang="en-US" sz="1800" dirty="0" err="1"/>
              <a:t>Pygame</a:t>
            </a:r>
            <a:r>
              <a:rPr lang="en-US" sz="1800" dirty="0"/>
              <a:t>)</a:t>
            </a:r>
          </a:p>
          <a:p>
            <a:r>
              <a:rPr lang="en-US" sz="1800" dirty="0"/>
              <a:t>Embedded Systems &amp; </a:t>
            </a:r>
            <a:r>
              <a:rPr lang="en-US" sz="1800" dirty="0" err="1"/>
              <a:t>IoT</a:t>
            </a:r>
            <a:r>
              <a:rPr lang="en-US" sz="1800" dirty="0"/>
              <a:t> (</a:t>
            </a:r>
            <a:r>
              <a:rPr lang="en-US" sz="1800" dirty="0" err="1"/>
              <a:t>MicroPython</a:t>
            </a:r>
            <a:r>
              <a:rPr lang="en-US" sz="1800" dirty="0"/>
              <a:t>, Raspberry Pi)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984" y="1611086"/>
            <a:ext cx="7458972" cy="386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39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06257" cy="694417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Popularity contest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969"/>
            <a:ext cx="2543629" cy="3951061"/>
          </a:xfrm>
        </p:spPr>
        <p:txBody>
          <a:bodyPr>
            <a:normAutofit/>
          </a:bodyPr>
          <a:lstStyle/>
          <a:p>
            <a:r>
              <a:rPr lang="en-US" sz="1800" dirty="0"/>
              <a:t>According to current trends, the most widely used programming languages are </a:t>
            </a:r>
            <a:r>
              <a:rPr lang="en-US" sz="1800" b="1" dirty="0"/>
              <a:t>Python, Java, and JavaScript</a:t>
            </a:r>
            <a:r>
              <a:rPr lang="en-US" sz="1800" dirty="0"/>
              <a:t>; with Python generally considered the most popular overall, followed by Java and then JavaScript, based on data from the TIOBE Index and other developer surveys.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33" y="1059542"/>
            <a:ext cx="6416674" cy="51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4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62" y="368828"/>
            <a:ext cx="8279775" cy="839187"/>
          </a:xfrm>
        </p:spPr>
        <p:txBody>
          <a:bodyPr/>
          <a:lstStyle/>
          <a:p>
            <a:pPr algn="ctr"/>
            <a:r>
              <a:rPr lang="en-US" dirty="0"/>
              <a:t>Companies that use Python: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286" y="1526796"/>
            <a:ext cx="10385571" cy="4721604"/>
          </a:xfrm>
        </p:spPr>
        <p:txBody>
          <a:bodyPr>
            <a:normAutofit fontScale="85000" lnSpcReduction="20000"/>
          </a:bodyPr>
          <a:lstStyle/>
          <a:p>
            <a:r>
              <a:rPr lang="en-US" sz="1600" dirty="0"/>
              <a:t>Google makes extensive use of Python in its web search systems. </a:t>
            </a:r>
          </a:p>
          <a:p>
            <a:r>
              <a:rPr lang="en-US" sz="1600" dirty="0"/>
              <a:t>The popular YouTube video sharing service is largely written in Python. </a:t>
            </a:r>
          </a:p>
          <a:p>
            <a:r>
              <a:rPr lang="en-US" sz="1600" dirty="0"/>
              <a:t>The Dropbox storage service codes both its server and desktop client software primarily in Python. </a:t>
            </a:r>
          </a:p>
          <a:p>
            <a:r>
              <a:rPr lang="en-US" sz="1600" dirty="0"/>
              <a:t>The Raspberry Pi single-board computer promotes Python as its educational language. </a:t>
            </a:r>
          </a:p>
          <a:p>
            <a:r>
              <a:rPr lang="en-US" sz="1600" dirty="0"/>
              <a:t>EVE Online, a massively multiplayer online game (MMOG) by CCP Games, uses Python broadly. </a:t>
            </a:r>
          </a:p>
          <a:p>
            <a:r>
              <a:rPr lang="en-US" sz="1600" dirty="0"/>
              <a:t>The widespread </a:t>
            </a:r>
            <a:r>
              <a:rPr lang="en-US" sz="1600" dirty="0" err="1"/>
              <a:t>BitTorrent</a:t>
            </a:r>
            <a:r>
              <a:rPr lang="en-US" sz="1600" dirty="0"/>
              <a:t> peer-to-peer file sharing system began its life as a Python program. </a:t>
            </a:r>
          </a:p>
          <a:p>
            <a:r>
              <a:rPr lang="en-US" sz="1600" dirty="0"/>
              <a:t>Industrial Light &amp; Magic, Pixar, and others use Python in the production of animated movies. </a:t>
            </a:r>
          </a:p>
          <a:p>
            <a:r>
              <a:rPr lang="en-US" sz="1600" dirty="0"/>
              <a:t>ESRI uses Python as an end-user customization tool for its popular GIS mapping products. </a:t>
            </a:r>
          </a:p>
          <a:p>
            <a:r>
              <a:rPr lang="en-US" sz="1600" dirty="0"/>
              <a:t>Google’s App Engine web development framework uses Python as an application language. </a:t>
            </a:r>
          </a:p>
          <a:p>
            <a:r>
              <a:rPr lang="en-US" sz="1600" dirty="0"/>
              <a:t>The IronPort email server product uses more than 1 million lines of Python code to do its job. </a:t>
            </a:r>
          </a:p>
          <a:p>
            <a:r>
              <a:rPr lang="en-US" sz="1600" dirty="0"/>
              <a:t>Maya, a powerful integrated 3D modeling and animation system, provides a Python scripting API. </a:t>
            </a:r>
          </a:p>
          <a:p>
            <a:r>
              <a:rPr lang="en-US" sz="1600" dirty="0"/>
              <a:t>The NSA uses Python for cryptography and intelligence analysis. </a:t>
            </a:r>
          </a:p>
          <a:p>
            <a:r>
              <a:rPr lang="en-US" sz="1600" dirty="0"/>
              <a:t>iRobot uses Python to develop commercial and military robotic devices.</a:t>
            </a:r>
          </a:p>
          <a:p>
            <a:r>
              <a:rPr lang="en-US" sz="1600" dirty="0"/>
              <a:t>Netflix and Yelp have both documented the role of Python in their software infrastructures.</a:t>
            </a:r>
          </a:p>
          <a:p>
            <a:r>
              <a:rPr lang="en-US" sz="1600" dirty="0"/>
              <a:t>Intel, Cisco, Hewlett-Packard, Seagate, Qualcomm, and IBM use Python for hardware testing. </a:t>
            </a:r>
          </a:p>
          <a:p>
            <a:r>
              <a:rPr lang="en-US" sz="1600" dirty="0"/>
              <a:t>JPMorgan Chase, UBS, </a:t>
            </a:r>
            <a:r>
              <a:rPr lang="en-US" sz="1600" dirty="0" err="1"/>
              <a:t>Getco</a:t>
            </a:r>
            <a:r>
              <a:rPr lang="en-US" sz="1600" dirty="0"/>
              <a:t>, and Citadel apply Python to financial market forecasting. </a:t>
            </a:r>
          </a:p>
          <a:p>
            <a:r>
              <a:rPr lang="en-US" sz="1600" dirty="0"/>
              <a:t>NASA, Los Alamos, </a:t>
            </a:r>
            <a:r>
              <a:rPr lang="en-US" sz="1600" dirty="0" err="1"/>
              <a:t>Fermilab</a:t>
            </a:r>
            <a:r>
              <a:rPr lang="en-US" sz="1600" dirty="0"/>
              <a:t>, JPL, and others use Python for scientific programming tasks</a:t>
            </a:r>
          </a:p>
        </p:txBody>
      </p:sp>
    </p:spTree>
    <p:extLst>
      <p:ext uri="{BB962C8B-B14F-4D97-AF65-F5344CB8AC3E}">
        <p14:creationId xmlns:p14="http://schemas.microsoft.com/office/powerpoint/2010/main" val="3941712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857" y="365126"/>
            <a:ext cx="8476344" cy="6799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Python in AI &amp;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</a:t>
            </a:r>
            <a:r>
              <a:rPr lang="en-US" dirty="0"/>
              <a:t> (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TensorFlow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r>
              <a:rPr lang="en-US" b="1" dirty="0"/>
              <a:t>Data Visualization</a:t>
            </a:r>
            <a:r>
              <a:rPr lang="en-US" dirty="0"/>
              <a:t> (</a:t>
            </a:r>
            <a:r>
              <a:rPr lang="en-US" dirty="0" err="1"/>
              <a:t>Matplotlib</a:t>
            </a:r>
            <a:r>
              <a:rPr lang="en-US" dirty="0"/>
              <a:t>, </a:t>
            </a:r>
            <a:r>
              <a:rPr lang="en-US" dirty="0" err="1"/>
              <a:t>Seaborn</a:t>
            </a:r>
            <a:r>
              <a:rPr lang="en-US" dirty="0"/>
              <a:t>)</a:t>
            </a:r>
          </a:p>
          <a:p>
            <a:r>
              <a:rPr lang="en-US" b="1" dirty="0"/>
              <a:t>Big Data Processing</a:t>
            </a:r>
            <a:r>
              <a:rPr lang="en-US" dirty="0"/>
              <a:t> (</a:t>
            </a:r>
            <a:r>
              <a:rPr lang="en-US" dirty="0" err="1"/>
              <a:t>Dask</a:t>
            </a:r>
            <a:r>
              <a:rPr lang="en-US" dirty="0"/>
              <a:t>, </a:t>
            </a:r>
            <a:r>
              <a:rPr lang="en-US" dirty="0" err="1"/>
              <a:t>PySpark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4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with other languages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3" y="2285774"/>
            <a:ext cx="10020281" cy="40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2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97"/>
            <a:ext cx="10515600" cy="883104"/>
          </a:xfrm>
        </p:spPr>
        <p:txBody>
          <a:bodyPr/>
          <a:lstStyle/>
          <a:p>
            <a:r>
              <a:rPr lang="en-US" dirty="0"/>
              <a:t>Disadvantages of Python(p2)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3798"/>
            <a:ext cx="10515600" cy="1771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High Memory Usage</a:t>
            </a:r>
          </a:p>
          <a:p>
            <a:pPr marL="0" indent="0">
              <a:buNone/>
            </a:pPr>
            <a:r>
              <a:rPr lang="en-US" sz="2400" b="1" dirty="0"/>
              <a:t>Reason:</a:t>
            </a:r>
            <a:r>
              <a:rPr lang="en-US" sz="2400" dirty="0"/>
              <a:t> Python’s dynamic typing and garbage collection lead to high memory consumption.</a:t>
            </a:r>
            <a:br>
              <a:rPr lang="en-US" sz="2400" dirty="0"/>
            </a:br>
            <a:r>
              <a:rPr lang="en-US" sz="2400" b="1" dirty="0"/>
              <a:t>Impact:</a:t>
            </a:r>
            <a:r>
              <a:rPr lang="en-US" sz="2400" dirty="0"/>
              <a:t> Not ideal for applications with </a:t>
            </a:r>
            <a:r>
              <a:rPr lang="en-US" sz="2400" b="1" dirty="0"/>
              <a:t>limited memory</a:t>
            </a:r>
            <a:r>
              <a:rPr lang="en-US" sz="2400" dirty="0"/>
              <a:t> (e.g., embedded systems).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95086" y="5588001"/>
            <a:ext cx="9942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Lists consume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memory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than arrays in C/C++.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arrays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lists for large data.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50" y="2754992"/>
            <a:ext cx="5408737" cy="26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97"/>
            <a:ext cx="10515600" cy="578303"/>
          </a:xfrm>
        </p:spPr>
        <p:txBody>
          <a:bodyPr>
            <a:normAutofit fontScale="90000"/>
          </a:bodyPr>
          <a:lstStyle/>
          <a:p>
            <a:r>
              <a:rPr lang="en-US" dirty="0"/>
              <a:t>Disadvantages of Python(p3)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4" y="725715"/>
            <a:ext cx="4847770" cy="6023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dirty="0"/>
              <a:t>3. </a:t>
            </a:r>
            <a:r>
              <a:rPr lang="de-DE" sz="1800" b="1" dirty="0"/>
              <a:t>Global Interpreter Lock (GIL)</a:t>
            </a:r>
            <a:endParaRPr lang="en-US" sz="1800" b="1" dirty="0"/>
          </a:p>
          <a:p>
            <a:r>
              <a:rPr lang="en-US" sz="1800" dirty="0"/>
              <a:t>Reason: Only one thread executes at a time</a:t>
            </a:r>
          </a:p>
          <a:p>
            <a:r>
              <a:rPr lang="en-US" sz="1800" dirty="0"/>
              <a:t>Impact: Inefficient multi-threading for CPU-bound tasks</a:t>
            </a:r>
          </a:p>
          <a:p>
            <a:r>
              <a:rPr lang="en-US" sz="1800" dirty="0"/>
              <a:t>Solution: Use multiprocessing for CPU-heavy tasks</a:t>
            </a:r>
          </a:p>
          <a:p>
            <a:pPr marL="0" indent="0">
              <a:buNone/>
            </a:pPr>
            <a:r>
              <a:rPr lang="en-US" sz="1800" b="1" dirty="0"/>
              <a:t>4. Weak in Mobile &amp; Game Development</a:t>
            </a:r>
          </a:p>
          <a:p>
            <a:r>
              <a:rPr lang="en-US" sz="1800" dirty="0"/>
              <a:t>Reason: Not optimized for mobile or games</a:t>
            </a:r>
          </a:p>
          <a:p>
            <a:r>
              <a:rPr lang="en-US" sz="1800" dirty="0"/>
              <a:t>Impact: Rarely used for Android/iOS apps or major games</a:t>
            </a:r>
          </a:p>
          <a:p>
            <a:r>
              <a:rPr lang="en-US" sz="1800" dirty="0"/>
              <a:t>Solution: Use </a:t>
            </a:r>
            <a:r>
              <a:rPr lang="en-US" sz="1800" dirty="0" err="1"/>
              <a:t>Kivy</a:t>
            </a:r>
            <a:r>
              <a:rPr lang="en-US" sz="1800" dirty="0"/>
              <a:t> or </a:t>
            </a:r>
            <a:r>
              <a:rPr lang="en-US" sz="1800" dirty="0" err="1"/>
              <a:t>BeeWare</a:t>
            </a:r>
            <a:r>
              <a:rPr lang="en-US" sz="1800" dirty="0"/>
              <a:t> (limited support)</a:t>
            </a:r>
          </a:p>
          <a:p>
            <a:pPr marL="0" indent="0">
              <a:buNone/>
            </a:pPr>
            <a:r>
              <a:rPr lang="en-US" sz="1800" b="1" dirty="0"/>
              <a:t>5. Limited Support for Frontend Web Development</a:t>
            </a:r>
          </a:p>
          <a:p>
            <a:r>
              <a:rPr lang="en-US" sz="1800" dirty="0"/>
              <a:t>Reason: Primarily a backend language</a:t>
            </a:r>
          </a:p>
          <a:p>
            <a:r>
              <a:rPr lang="en-US" sz="1800" dirty="0"/>
              <a:t>Impact: Cannot replace JavaScript for frontend</a:t>
            </a:r>
          </a:p>
          <a:p>
            <a:r>
              <a:rPr lang="en-US" sz="1800" dirty="0"/>
              <a:t>Solution: Use JavaScript + Python for full-stack</a:t>
            </a:r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183086" y="1204686"/>
            <a:ext cx="543321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Poor Performance in Real-Time Applications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Interpreted nature and GIL cause delays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Impact: Not ideal for real-time systems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Use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Cython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C/C++ modules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Dependency Management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Multiple versions &amp; libraries lead to conflicts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Impact: Harder to maintain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Use virtual environments 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12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105</TotalTime>
  <Words>1337</Words>
  <Application>Microsoft Office PowerPoint</Application>
  <PresentationFormat>Widescreen</PresentationFormat>
  <Paragraphs>157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Introduction to Programming </vt:lpstr>
      <vt:lpstr>Types of programming Language</vt:lpstr>
      <vt:lpstr>Evolution of Python</vt:lpstr>
      <vt:lpstr>Where is Python Used?</vt:lpstr>
      <vt:lpstr>Popularity contest</vt:lpstr>
      <vt:lpstr>Companies that use Python:</vt:lpstr>
      <vt:lpstr>Python in AI &amp; Data Science</vt:lpstr>
      <vt:lpstr>Compared with other languages</vt:lpstr>
      <vt:lpstr>Disadvantages of Python(p2)</vt:lpstr>
      <vt:lpstr>Disadvantages of Python(p3)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33</cp:revision>
  <dcterms:created xsi:type="dcterms:W3CDTF">2025-09-22T02:44:38Z</dcterms:created>
  <dcterms:modified xsi:type="dcterms:W3CDTF">2025-12-17T13:37:14Z</dcterms:modified>
</cp:coreProperties>
</file>